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0000"/>
  </p:normalViewPr>
  <p:slideViewPr>
    <p:cSldViewPr snapToGrid="0" snapToObjects="1">
      <p:cViewPr varScale="1">
        <p:scale>
          <a:sx n="126" d="100"/>
          <a:sy n="126" d="100"/>
        </p:scale>
        <p:origin x="1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60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by naming the project and the audience.</a:t>
            </a:r>
          </a:p>
          <a:p>
            <a:r>
              <a:rPr lang="en-US" dirty="0"/>
              <a:t>- This is a prescriptive digital twin built on the public Microsoft Predictive Maintenance dataset — code is mine, the dataset is not.</a:t>
            </a:r>
          </a:p>
          <a:p>
            <a:r>
              <a:rPr lang="en-US" dirty="0"/>
              <a:t>- Twenty-minute slot, including a live demo at the end.</a:t>
            </a:r>
          </a:p>
          <a:p>
            <a:r>
              <a:rPr lang="en-US" dirty="0"/>
              <a:t>- Goal of the talk: defend every design choice, not just show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by naming the project and the audience.</a:t>
            </a:r>
          </a:p>
          <a:p>
            <a:r>
              <a:rPr lang="en-US" dirty="0"/>
              <a:t>- This is a prescriptive digital twin built on the public Microsoft Predictive Maintenance dataset — code is mine, the dataset is not.</a:t>
            </a:r>
          </a:p>
          <a:p>
            <a:r>
              <a:rPr lang="en-US" dirty="0"/>
              <a:t>- Twenty-minute slot, including a live demo at the end.</a:t>
            </a:r>
          </a:p>
          <a:p>
            <a:r>
              <a:rPr lang="en-US" dirty="0"/>
              <a:t>- Goal of the talk: defend every design choice, not just show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Five tables: telemetry, errors, maintenance, failures, machines. 100 machines, one full year of hourly data.</a:t>
            </a:r>
          </a:p>
          <a:p>
            <a:r>
              <a:rPr lang="en-US" dirty="0"/>
              <a:t>- 876k telemetry rows, 761 ground-truth failures — that is roughly 0.42% positive at the row level.</a:t>
            </a:r>
          </a:p>
          <a:p>
            <a:r>
              <a:rPr lang="en-US" dirty="0"/>
              <a:t>- That class imbalance drives the metric choice on a later slide and the class-weighted training.</a:t>
            </a:r>
          </a:p>
          <a:p>
            <a:r>
              <a:rPr lang="en-US" dirty="0"/>
              <a:t>- Only one year, so seasonality and long wear cycles are not exercised — I will come back to this in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left to right: upload, validate, features, label, train, evaluate, then inference, health, twin, serve.</a:t>
            </a:r>
          </a:p>
          <a:p>
            <a:r>
              <a:rPr lang="en-US" dirty="0"/>
              <a:t>- Upload-driven staging means the raw CSVs land in an isolated incoming directory and only replace the canonical files atomically after the pipeline succeeds.</a:t>
            </a:r>
          </a:p>
          <a:p>
            <a:r>
              <a:rPr lang="en-US" dirty="0"/>
              <a:t>- </a:t>
            </a:r>
            <a:r>
              <a:rPr lang="en-US" dirty="0" err="1"/>
              <a:t>MLflow</a:t>
            </a:r>
            <a:r>
              <a:rPr lang="en-US" dirty="0"/>
              <a:t> logs every run, a drift report runs each cycle, and the whole stack ships in a multi-stage Docker image.</a:t>
            </a:r>
          </a:p>
          <a:p>
            <a:r>
              <a:rPr lang="en-US" dirty="0"/>
              <a:t>- This is the spine — the next slide drills into the runtime flow from user click to operator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the runtime story behind the architecture spine — the same components, traced as a request flow.</a:t>
            </a:r>
          </a:p>
          <a:p>
            <a:r>
              <a:rPr lang="en-US" dirty="0"/>
              <a:t>- User drops 5 CSVs in the dashboard. POST /upload-and-run takes a process-wide lock (concurrent uploads get 429) and stages every file under data/raw/.incoming/&lt;</a:t>
            </a:r>
            <a:r>
              <a:rPr lang="en-US" dirty="0" err="1"/>
              <a:t>uuid</a:t>
            </a:r>
            <a:r>
              <a:rPr lang="en-US" dirty="0"/>
              <a:t>&gt;/ with a per-file size cap (413 on overrun).</a:t>
            </a:r>
          </a:p>
          <a:p>
            <a:r>
              <a:rPr lang="en-US" dirty="0"/>
              <a:t>- The pipeline runs against the staged tree: </a:t>
            </a:r>
            <a:r>
              <a:rPr lang="en-US" dirty="0" err="1"/>
              <a:t>io.load_raw</a:t>
            </a:r>
            <a:r>
              <a:rPr lang="en-US" dirty="0"/>
              <a:t> → validate → features → labels + split → train (baseline + </a:t>
            </a:r>
            <a:r>
              <a:rPr lang="en-US" dirty="0" err="1"/>
              <a:t>LightGBM</a:t>
            </a:r>
            <a:r>
              <a:rPr lang="en-US" dirty="0"/>
              <a:t>, logged to </a:t>
            </a:r>
            <a:r>
              <a:rPr lang="en-US" dirty="0" err="1"/>
              <a:t>MLflow</a:t>
            </a:r>
            <a:r>
              <a:rPr lang="en-US" dirty="0"/>
              <a:t>) → evaluate + drift.</a:t>
            </a:r>
          </a:p>
          <a:p>
            <a:r>
              <a:rPr lang="en-US" dirty="0"/>
              <a:t>- Only on full success do we commit: each staged file </a:t>
            </a:r>
            <a:r>
              <a:rPr lang="en-US" dirty="0" err="1"/>
              <a:t>os.replace</a:t>
            </a:r>
            <a:r>
              <a:rPr lang="en-US" dirty="0"/>
              <a:t>-d into the canonical path, then the .</a:t>
            </a:r>
            <a:r>
              <a:rPr lang="en-US" dirty="0" err="1"/>
              <a:t>session.json</a:t>
            </a:r>
            <a:r>
              <a:rPr lang="en-US" dirty="0"/>
              <a:t> sentinel written temp + rename. A failed stage leaves the live dataset and the prior session untouched.</a:t>
            </a:r>
          </a:p>
          <a:p>
            <a:r>
              <a:rPr lang="en-US" dirty="0"/>
              <a:t>- After commit, the read endpoints are gated by the sentinel. /predict runs </a:t>
            </a:r>
            <a:r>
              <a:rPr lang="en-US" dirty="0" err="1"/>
              <a:t>pdm.predict</a:t>
            </a:r>
            <a:r>
              <a:rPr lang="en-US" dirty="0"/>
              <a:t> → health → </a:t>
            </a:r>
            <a:r>
              <a:rPr lang="en-US" dirty="0" err="1"/>
              <a:t>likely_component</a:t>
            </a:r>
            <a:r>
              <a:rPr lang="en-US" dirty="0"/>
              <a:t> → twin, and the React dashboard renders the JSON object the operator actually sees.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pipeline is deterministic by design: same CSVs in, same </a:t>
            </a:r>
            <a:r>
              <a:rPr lang="en-US" dirty="0" err="1"/>
              <a:t>DataFrame</a:t>
            </a:r>
            <a:r>
              <a:rPr lang="en-US" dirty="0"/>
              <a:t> out, every time.</a:t>
            </a:r>
          </a:p>
          <a:p>
            <a:r>
              <a:rPr lang="en-US" dirty="0"/>
              <a:t>- Schema and range checks fail fast before any modelling work touches the data.</a:t>
            </a:r>
          </a:p>
          <a:p>
            <a:r>
              <a:rPr lang="en-US" dirty="0"/>
              <a:t>- Telemetry is the hourly grid; errors and maintenance are bucketed to that grid before any join.</a:t>
            </a:r>
          </a:p>
          <a:p>
            <a:r>
              <a:rPr lang="en-US" dirty="0"/>
              <a:t>- Missing values are handled inside their feature: forward-fill for last-event features, rolling stats absorb intra-window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- 45 features across four families. The big group is rolling telemetry stats — mean and std on volt, rotate, pressure, vibration over 3h, 24h, 72h windows.</a:t>
            </a:r>
          </a:p>
          <a:p>
            <a:r>
              <a:rPr lang="en-US" dirty="0"/>
              <a:t>- Errors are per-code counts over 24h plus totals over 24h and 72h.</a:t>
            </a:r>
          </a:p>
          <a:p>
            <a:r>
              <a:rPr lang="en-US" dirty="0"/>
              <a:t>- The explicitly interpretable feature is hours-since-last-maintenance per component — that is what the prescription layer leans on.</a:t>
            </a:r>
          </a:p>
          <a:p>
            <a:r>
              <a:rPr lang="en-US" dirty="0"/>
              <a:t>- Code on this slide is the verbatim _</a:t>
            </a:r>
            <a:r>
              <a:rPr lang="en-US" dirty="0" err="1"/>
              <a:t>rolling_stats</a:t>
            </a:r>
            <a:r>
              <a:rPr lang="en-US" dirty="0"/>
              <a:t> function from 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pdm</a:t>
            </a:r>
            <a:r>
              <a:rPr lang="en-US" dirty="0"/>
              <a:t>/</a:t>
            </a:r>
            <a:r>
              <a:rPr lang="en-US" dirty="0" err="1"/>
              <a:t>features.py</a:t>
            </a:r>
            <a:r>
              <a:rPr lang="en-US" dirty="0"/>
              <a:t> — closed='left' is the leakage guard that lets a feature at time t see only rows strictly before 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 cutoff date, October 1, 2015. Train on Jan to Sep, hold out Oct to Dec.</a:t>
            </a:r>
          </a:p>
          <a:p>
            <a:r>
              <a:rPr lang="en-US" dirty="0"/>
              <a:t>- A single cutoff mirrors production: train on history, score the future. Time-aware K-fold here would inflate the numbers.</a:t>
            </a:r>
          </a:p>
          <a:p>
            <a:r>
              <a:rPr lang="en-US" dirty="0"/>
              <a:t>- The label function on the right is the verbatim </a:t>
            </a:r>
            <a:r>
              <a:rPr lang="en-US" dirty="0" err="1"/>
              <a:t>label_in_window</a:t>
            </a:r>
            <a:r>
              <a:rPr lang="en-US" dirty="0"/>
              <a:t> from 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pdm</a:t>
            </a:r>
            <a:r>
              <a:rPr lang="en-US" dirty="0"/>
              <a:t>/</a:t>
            </a:r>
            <a:r>
              <a:rPr lang="en-US" dirty="0" err="1"/>
              <a:t>labels.py</a:t>
            </a:r>
            <a:r>
              <a:rPr lang="en-US" dirty="0"/>
              <a:t> — </a:t>
            </a:r>
            <a:r>
              <a:rPr lang="en-US" dirty="0" err="1"/>
              <a:t>merge_asof</a:t>
            </a:r>
            <a:r>
              <a:rPr lang="en-US" dirty="0"/>
              <a:t> forward with </a:t>
            </a:r>
            <a:r>
              <a:rPr lang="en-US" dirty="0" err="1"/>
              <a:t>allow_exact_matches</a:t>
            </a:r>
            <a:r>
              <a:rPr lang="en-US" dirty="0"/>
              <a:t>=False makes the window open at t and closed at </a:t>
            </a:r>
            <a:r>
              <a:rPr lang="en-US" dirty="0" err="1"/>
              <a:t>t+horizon</a:t>
            </a:r>
            <a:r>
              <a:rPr lang="en-US" dirty="0"/>
              <a:t>.</a:t>
            </a:r>
          </a:p>
          <a:p>
            <a:r>
              <a:rPr lang="en-US" dirty="0"/>
              <a:t>- tests/</a:t>
            </a:r>
            <a:r>
              <a:rPr lang="en-US" dirty="0" err="1"/>
              <a:t>test_labels.py</a:t>
            </a:r>
            <a:r>
              <a:rPr lang="en-US" dirty="0"/>
              <a:t> locks the boundary semantics in — leakage is non-negotiable.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 always train a baseline. Logistic regression with class weighting gives an honest floor — PR-AUC of 0.287.</a:t>
            </a:r>
          </a:p>
          <a:p>
            <a:r>
              <a:rPr lang="en-US" dirty="0"/>
              <a:t>- </a:t>
            </a:r>
            <a:r>
              <a:rPr lang="en-US" dirty="0" err="1"/>
              <a:t>LightGBM</a:t>
            </a:r>
            <a:r>
              <a:rPr lang="en-US" dirty="0"/>
              <a:t> is the shipped model: handles mixed-scale features and interactions, fast to train, fast to serve.</a:t>
            </a:r>
          </a:p>
          <a:p>
            <a:r>
              <a:rPr lang="en-US" dirty="0"/>
              <a:t>- Hyperparameters at the bottom are the verbatim </a:t>
            </a:r>
            <a:r>
              <a:rPr lang="en-US" dirty="0" err="1"/>
              <a:t>final.params</a:t>
            </a:r>
            <a:r>
              <a:rPr lang="en-US" dirty="0"/>
              <a:t> block from configs/</a:t>
            </a:r>
            <a:r>
              <a:rPr lang="en-US" dirty="0" err="1"/>
              <a:t>default.yaml</a:t>
            </a:r>
            <a:r>
              <a:rPr lang="en-US" dirty="0"/>
              <a:t>.</a:t>
            </a:r>
          </a:p>
          <a:p>
            <a:r>
              <a:rPr lang="en-US" dirty="0"/>
              <a:t>- Headline: 0.908 vs 0.287 PR-AUC — that gap is the real argument for the gradient booster.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Numbers on the right are the exact results table from the repo README — both runs, every metric the brief asked for.</a:t>
            </a:r>
          </a:p>
          <a:p>
            <a:r>
              <a:rPr lang="en-US" dirty="0"/>
              <a:t>- PR-AUC is the primary metric because the positive rate is under one percent at row level.</a:t>
            </a:r>
          </a:p>
          <a:p>
            <a:r>
              <a:rPr lang="en-US" dirty="0"/>
              <a:t>- The baseline is honest: PR-AUC 0.287, false alarms 28.7 per machine-month — useful only as a floor.</a:t>
            </a:r>
          </a:p>
          <a:p>
            <a:r>
              <a:rPr lang="en-US" dirty="0"/>
              <a:t>- </a:t>
            </a:r>
            <a:r>
              <a:rPr lang="en-US" dirty="0" err="1"/>
              <a:t>LightGBM</a:t>
            </a:r>
            <a:r>
              <a:rPr lang="en-US" dirty="0"/>
              <a:t> lifts PR-AUC to 0.908 and drops false alarms to 3.03 per machine-month at threshold 0.686 — the operational number that matters to a plant.</a:t>
            </a:r>
          </a:p>
          <a:p>
            <a:r>
              <a:rPr lang="en-US" dirty="0"/>
              <a:t>- Plots for both models (PR curve, ROC curve, probability histogram) are produced by </a:t>
            </a:r>
            <a:r>
              <a:rPr lang="en-US" dirty="0" err="1"/>
              <a:t>pdm.evaluate</a:t>
            </a:r>
            <a:r>
              <a:rPr lang="en-US" dirty="0"/>
              <a:t> and written to artifacts/plots/ on every train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Three options were on the table: multi-class head, post-hoc attribution via SHAP, or rule-based.</a:t>
            </a:r>
          </a:p>
          <a:p>
            <a:r>
              <a:rPr lang="en-US" dirty="0"/>
              <a:t>- Multi-class needs more failures per component than this dataset offers — I rejected it.</a:t>
            </a:r>
          </a:p>
          <a:p>
            <a:r>
              <a:rPr lang="en-US" dirty="0"/>
              <a:t>- SHAP is excellent and is the future-work direction, but on one hourly row the explanation gets noisy.</a:t>
            </a:r>
          </a:p>
          <a:p>
            <a:r>
              <a:rPr lang="en-US" dirty="0"/>
              <a:t>- Rule-based ranking on hours-since-last-maintenance against typical service interval is cheap, deterministic, and easy for an operator to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the actual /predict response for machine 1 at the timestamp shown — risk 0.999, critical, comp1 overdue.</a:t>
            </a:r>
          </a:p>
          <a:p>
            <a:r>
              <a:rPr lang="en-US" dirty="0"/>
              <a:t>- Six fields: risk, state, likely component, confidence, evidence, prescription.</a:t>
            </a:r>
          </a:p>
          <a:p>
            <a:r>
              <a:rPr lang="en-US" dirty="0"/>
              <a:t>- </a:t>
            </a:r>
            <a:r>
              <a:rPr lang="en-US" dirty="0" err="1"/>
              <a:t>main_evidence</a:t>
            </a:r>
            <a:r>
              <a:rPr lang="en-US" dirty="0"/>
              <a:t> is two human-readable strings — the no-maintenance gap on comp1 and the elevated voltage standard deviation.</a:t>
            </a:r>
          </a:p>
          <a:p>
            <a:r>
              <a:rPr lang="en-US" dirty="0"/>
              <a:t>- That object is what gets handed to the operator or downstream system — not a probability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Four bands: healthy under 0.10, watch up to 0.30, degraded up to 0.60, critical above. Cutoffs come straight from configs/</a:t>
            </a:r>
            <a:r>
              <a:rPr lang="en-US" dirty="0" err="1"/>
              <a:t>default.yaml</a:t>
            </a:r>
            <a:r>
              <a:rPr lang="en-US" dirty="0"/>
              <a:t>.</a:t>
            </a:r>
          </a:p>
          <a:p>
            <a:r>
              <a:rPr lang="en-US" dirty="0"/>
              <a:t>- Each band maps to one action via prescribe(): continue, monitor, inspect, or maintenance.</a:t>
            </a:r>
          </a:p>
          <a:p>
            <a:r>
              <a:rPr lang="en-US" dirty="0"/>
              <a:t>- The 0.686 F1 threshold defines the alarm boundary above which inspection at minimum is warranted.</a:t>
            </a:r>
          </a:p>
          <a:p>
            <a:r>
              <a:rPr lang="en-US" dirty="0"/>
              <a:t>- Confidence override is a hard rule: a low-confidence critical never escalates to </a:t>
            </a:r>
            <a:r>
              <a:rPr lang="en-US" dirty="0" err="1"/>
              <a:t>urgent_maintenance</a:t>
            </a:r>
            <a:r>
              <a:rPr lang="en-US" dirty="0"/>
              <a:t> — it degrades to </a:t>
            </a:r>
            <a:r>
              <a:rPr lang="en-US" dirty="0" err="1"/>
              <a:t>schedule_maintenance</a:t>
            </a:r>
            <a:r>
              <a:rPr lang="en-US" dirty="0"/>
              <a:t>. The code on the right is the verbatim </a:t>
            </a:r>
            <a:r>
              <a:rPr lang="en-US" dirty="0" err="1"/>
              <a:t>health.py</a:t>
            </a:r>
            <a:r>
              <a:rPr lang="en-US" dirty="0"/>
              <a:t>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</a:t>
            </a:r>
            <a:r>
              <a:rPr lang="en-US" dirty="0" err="1"/>
              <a:t>Makefile</a:t>
            </a:r>
            <a:r>
              <a:rPr lang="en-US" dirty="0"/>
              <a:t> is the contract: install, validate, features, train, evaluate, drift, predict, </a:t>
            </a:r>
            <a:r>
              <a:rPr lang="en-US" dirty="0" err="1"/>
              <a:t>api</a:t>
            </a:r>
            <a:r>
              <a:rPr lang="en-US" dirty="0"/>
              <a:t>, docker.</a:t>
            </a:r>
          </a:p>
          <a:p>
            <a:r>
              <a:rPr lang="en-US" dirty="0"/>
              <a:t>- </a:t>
            </a:r>
            <a:r>
              <a:rPr lang="en-US" dirty="0" err="1"/>
              <a:t>MLflow</a:t>
            </a:r>
            <a:r>
              <a:rPr lang="en-US" dirty="0"/>
              <a:t> tracks both runs — baseline and </a:t>
            </a:r>
            <a:r>
              <a:rPr lang="en-US" dirty="0" err="1"/>
              <a:t>LightGBM</a:t>
            </a:r>
            <a:r>
              <a:rPr lang="en-US" dirty="0"/>
              <a:t> — with full params and metrics, locally under </a:t>
            </a:r>
            <a:r>
              <a:rPr lang="en-US" dirty="0" err="1"/>
              <a:t>mlruns</a:t>
            </a:r>
            <a:r>
              <a:rPr lang="en-US" dirty="0"/>
              <a:t>.</a:t>
            </a:r>
          </a:p>
          <a:p>
            <a:r>
              <a:rPr lang="en-US" dirty="0"/>
              <a:t>- </a:t>
            </a:r>
            <a:r>
              <a:rPr lang="en-US" dirty="0" err="1"/>
              <a:t>pytest</a:t>
            </a:r>
            <a:r>
              <a:rPr lang="en-US" dirty="0"/>
              <a:t> covers schema, feature math, and the labelling function. A drift report compares the live batch against the training window with PSI and null rates.</a:t>
            </a:r>
          </a:p>
          <a:p>
            <a:r>
              <a:rPr lang="en-US" dirty="0"/>
              <a:t>- Docker is multi-stage: the pipeline runs at build time and the model is baked into the final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the script I will run live. Install, validate, train, evaluate — about thirty seconds end-to-end on a laptop.</a:t>
            </a:r>
          </a:p>
          <a:p>
            <a:r>
              <a:rPr lang="en-US" dirty="0"/>
              <a:t>- Then a curl against /predict for machine 1 at the December 15th timestamp.</a:t>
            </a:r>
          </a:p>
          <a:p>
            <a:r>
              <a:rPr lang="en-US" dirty="0"/>
              <a:t>- The response is the twin object from the previous slide — critical, comp1, </a:t>
            </a:r>
            <a:r>
              <a:rPr lang="en-US" dirty="0" err="1"/>
              <a:t>urgent_maintenance</a:t>
            </a:r>
            <a:r>
              <a:rPr lang="en-US" dirty="0"/>
              <a:t>.</a:t>
            </a:r>
          </a:p>
          <a:p>
            <a:r>
              <a:rPr lang="en-US" dirty="0"/>
              <a:t>- The point is reproducibility: every interviewer in the room can clone the repo and rerun this in under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 would rather raise the weaknesses than have you find them. Four of them.</a:t>
            </a:r>
          </a:p>
          <a:p>
            <a:r>
              <a:rPr lang="en-US" dirty="0"/>
              <a:t>- Dataset: one year, 100 machines — strong PR-AUC here is not a guarantee at fleet scale or across seasons.</a:t>
            </a:r>
          </a:p>
          <a:p>
            <a:r>
              <a:rPr lang="en-US" dirty="0"/>
              <a:t>- Single-failure approximation: co-occurring failures collapse into one positive and </a:t>
            </a:r>
            <a:r>
              <a:rPr lang="en-US" dirty="0" err="1"/>
              <a:t>likely_component</a:t>
            </a:r>
            <a:r>
              <a:rPr lang="en-US" dirty="0"/>
              <a:t> is heuristic.</a:t>
            </a:r>
          </a:p>
          <a:p>
            <a:r>
              <a:rPr lang="en-US" dirty="0"/>
              <a:t>- Threshold and evidence: the F1 threshold is a placeholder for a cost-curve. Two-string evidence is a floor — SHAP-backed evidence is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Streaming ingestion via Kafka or OPC-UA — the same rolling logic on a real clock.</a:t>
            </a:r>
          </a:p>
          <a:p>
            <a:r>
              <a:rPr lang="en-US" dirty="0"/>
              <a:t>- A critical twin auto-opens a work order in CMMS with likely component and evidence attached — the obvious operational hook.</a:t>
            </a:r>
          </a:p>
          <a:p>
            <a:r>
              <a:rPr lang="en-US" dirty="0"/>
              <a:t>- Replace the rule-based ranker with calibrated per-component heads once we have the volume.</a:t>
            </a:r>
          </a:p>
          <a:p>
            <a:r>
              <a:rPr lang="en-US" dirty="0"/>
              <a:t>- Fleet dashboards that aggregate twin objects by line, shift, and supplier — surface the smallest action set that reduces downtime risk the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Hand back to the panel.</a:t>
            </a:r>
          </a:p>
          <a:p>
            <a:r>
              <a:rPr lang="en-US" dirty="0"/>
              <a:t>- Offer to go deeper on labelling, threshold economics, </a:t>
            </a:r>
            <a:r>
              <a:rPr lang="en-US" dirty="0" err="1"/>
              <a:t>MLOps</a:t>
            </a:r>
            <a:r>
              <a:rPr lang="en-US" dirty="0"/>
              <a:t> choices, or transplanting onto Hyundai's stack.</a:t>
            </a:r>
          </a:p>
          <a:p>
            <a:r>
              <a:rPr lang="en-US"/>
              <a:t>- Repository link on screen if anyone wants to look at the code during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9897" y="330771"/>
            <a:ext cx="147637" cy="147637"/>
          </a:xfrm>
          <a:prstGeom prst="ellipse">
            <a:avLst/>
          </a:prstGeom>
          <a:ln w="4763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728320" y="309339"/>
            <a:ext cx="2867025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kern="0" spc="10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HD HYUNDAI · TECHNICAL INTERVIEW</a:t>
            </a:r>
            <a:endParaRPr lang="en-US" sz="1010" dirty="0"/>
          </a:p>
        </p:txBody>
      </p:sp>
      <p:sp>
        <p:nvSpPr>
          <p:cNvPr id="7" name="Text 3"/>
          <p:cNvSpPr/>
          <p:nvPr/>
        </p:nvSpPr>
        <p:spPr>
          <a:xfrm>
            <a:off x="547688" y="1440321"/>
            <a:ext cx="8048625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spcAft>
                <a:spcPts val="810"/>
              </a:spcAft>
              <a:buNone/>
            </a:pPr>
            <a:r>
              <a:rPr lang="en-US" sz="1150" kern="0" spc="346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PRESCRIPTIVE DIGITAL TWIN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47688" y="1761641"/>
            <a:ext cx="8048625" cy="6096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788"/>
              </a:lnSpc>
              <a:buNone/>
            </a:pPr>
            <a:r>
              <a:rPr lang="en-US" sz="5040" b="1" kern="0" spc="-126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Predictive maintenance,</a:t>
            </a:r>
            <a:r>
              <a:rPr lang="en-US" sz="5040" b="1" kern="0" spc="-126" dirty="0">
                <a:solidFill>
                  <a:srgbClr val="00AAD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.</a:t>
            </a:r>
            <a:endParaRPr lang="en-US" sz="5040" dirty="0"/>
          </a:p>
        </p:txBody>
      </p:sp>
      <p:sp>
        <p:nvSpPr>
          <p:cNvPr id="9" name="Text 5"/>
          <p:cNvSpPr/>
          <p:nvPr/>
        </p:nvSpPr>
        <p:spPr>
          <a:xfrm>
            <a:off x="547688" y="2421880"/>
            <a:ext cx="8048625" cy="4572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spcBef>
                <a:spcPts val="405"/>
              </a:spcBef>
              <a:buNone/>
            </a:pPr>
            <a:r>
              <a:rPr lang="en-US" sz="3600" kern="0" spc="-9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turned into action.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548580" y="3136776"/>
            <a:ext cx="5486400" cy="8905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40"/>
              </a:lnSpc>
              <a:spcBef>
                <a:spcPts val="2025"/>
              </a:spcBef>
              <a:buNone/>
            </a:pPr>
            <a:r>
              <a:rPr lang="en-US" sz="144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24-hour failure-risk model and digital twin for industrial fleet operations, built end-to-end on the public Microsoft Predictive Maintenance dataset.</a:t>
            </a: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548878" y="4470722"/>
            <a:ext cx="1271588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CANDIDATE</a:t>
            </a:r>
            <a:endParaRPr lang="en-US" sz="790" dirty="0"/>
          </a:p>
        </p:txBody>
      </p:sp>
      <p:sp>
        <p:nvSpPr>
          <p:cNvPr id="12" name="Text 8"/>
          <p:cNvSpPr/>
          <p:nvPr/>
        </p:nvSpPr>
        <p:spPr>
          <a:xfrm>
            <a:off x="548878" y="4653074"/>
            <a:ext cx="1271588" cy="2333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36"/>
              </a:lnSpc>
              <a:spcBef>
                <a:spcPts val="243"/>
              </a:spcBef>
              <a:buNone/>
            </a:pPr>
            <a:r>
              <a:rPr lang="en-US" sz="122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Saurav Bhowmick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2094905" y="4470722"/>
            <a:ext cx="149066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ROLE</a:t>
            </a:r>
            <a:endParaRPr lang="en-US" sz="790" dirty="0"/>
          </a:p>
        </p:txBody>
      </p:sp>
      <p:sp>
        <p:nvSpPr>
          <p:cNvPr id="14" name="Text 10"/>
          <p:cNvSpPr/>
          <p:nvPr/>
        </p:nvSpPr>
        <p:spPr>
          <a:xfrm>
            <a:off x="2094905" y="4653074"/>
            <a:ext cx="1490663" cy="2333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36"/>
              </a:lnSpc>
              <a:spcBef>
                <a:spcPts val="243"/>
              </a:spcBef>
              <a:buNone/>
            </a:pPr>
            <a:r>
              <a:rPr lang="en-US" sz="122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 / MLOps Engineer</a:t>
            </a:r>
            <a:endParaRPr lang="en-US" sz="1220" dirty="0"/>
          </a:p>
        </p:txBody>
      </p:sp>
      <p:sp>
        <p:nvSpPr>
          <p:cNvPr id="15" name="Text 11"/>
          <p:cNvSpPr/>
          <p:nvPr/>
        </p:nvSpPr>
        <p:spPr>
          <a:xfrm>
            <a:off x="3859002" y="4470722"/>
            <a:ext cx="25003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REPOSITORY</a:t>
            </a:r>
            <a:endParaRPr lang="en-US" sz="790" dirty="0"/>
          </a:p>
        </p:txBody>
      </p:sp>
      <p:sp>
        <p:nvSpPr>
          <p:cNvPr id="16" name="Text 12"/>
          <p:cNvSpPr/>
          <p:nvPr/>
        </p:nvSpPr>
        <p:spPr>
          <a:xfrm>
            <a:off x="3859002" y="4653074"/>
            <a:ext cx="2500313" cy="2333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36"/>
              </a:lnSpc>
              <a:spcBef>
                <a:spcPts val="243"/>
              </a:spcBef>
              <a:buNone/>
            </a:pPr>
            <a:r>
              <a:rPr lang="en-US" sz="122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HD-Hyundai-Technical-Assignment</a:t>
            </a:r>
            <a:endParaRPr lang="en-US" sz="1220" dirty="0"/>
          </a:p>
        </p:txBody>
      </p:sp>
      <p:sp>
        <p:nvSpPr>
          <p:cNvPr id="17" name="Text 13"/>
          <p:cNvSpPr/>
          <p:nvPr/>
        </p:nvSpPr>
        <p:spPr>
          <a:xfrm>
            <a:off x="7289490" y="4470722"/>
            <a:ext cx="13049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TALK</a:t>
            </a:r>
            <a:endParaRPr lang="en-US" sz="790" dirty="0"/>
          </a:p>
        </p:txBody>
      </p:sp>
      <p:sp>
        <p:nvSpPr>
          <p:cNvPr id="18" name="Text 14"/>
          <p:cNvSpPr/>
          <p:nvPr/>
        </p:nvSpPr>
        <p:spPr>
          <a:xfrm>
            <a:off x="7289490" y="4653074"/>
            <a:ext cx="1304925" cy="2333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836"/>
              </a:lnSpc>
              <a:spcBef>
                <a:spcPts val="243"/>
              </a:spcBef>
              <a:buNone/>
            </a:pPr>
            <a:r>
              <a:rPr lang="en-US" sz="122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min · live demo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5897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PROBLEM FRAMING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602531"/>
            <a:ext cx="6400800" cy="8048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175"/>
              </a:lnSpc>
              <a:spcBef>
                <a:spcPts val="607"/>
              </a:spcBef>
              <a:buNone/>
            </a:pPr>
            <a:r>
              <a:rPr lang="en-US" sz="3020" b="1" kern="0" spc="-76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Stop reacting to breakdowns. Prescribe the next action.</a:t>
            </a:r>
            <a:endParaRPr lang="en-US" sz="3020" dirty="0"/>
          </a:p>
        </p:txBody>
      </p:sp>
      <p:sp>
        <p:nvSpPr>
          <p:cNvPr id="5" name="Shape 3"/>
          <p:cNvSpPr/>
          <p:nvPr/>
        </p:nvSpPr>
        <p:spPr>
          <a:xfrm>
            <a:off x="547650" y="1716918"/>
            <a:ext cx="2562225" cy="1824037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50057" y="1936254"/>
            <a:ext cx="21574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REACTIVE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750057" y="2138809"/>
            <a:ext cx="2157413" cy="2524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80"/>
              </a:lnSpc>
              <a:spcBef>
                <a:spcPts val="405"/>
              </a:spcBef>
              <a:buNone/>
            </a:pPr>
            <a:r>
              <a:rPr lang="en-US" sz="158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Fix after failure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750057" y="2468612"/>
            <a:ext cx="2157413" cy="6667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55"/>
              </a:lnSpc>
              <a:spcBef>
                <a:spcPts val="607"/>
              </a:spcBef>
              <a:buNone/>
            </a:pPr>
            <a:r>
              <a:rPr lang="en-US" sz="108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Unplanned downtime, line stoppages, cascading damage. The default state of most plants.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290850" y="1716918"/>
            <a:ext cx="2562225" cy="1824037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493257" y="1936254"/>
            <a:ext cx="21574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PREDICTIVE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3493257" y="2138809"/>
            <a:ext cx="2157413" cy="2524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80"/>
              </a:lnSpc>
              <a:spcBef>
                <a:spcPts val="405"/>
              </a:spcBef>
              <a:buNone/>
            </a:pPr>
            <a:r>
              <a:rPr lang="en-US" sz="158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Estimate the risk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3493257" y="2468612"/>
            <a:ext cx="2157413" cy="6667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55"/>
              </a:lnSpc>
              <a:spcBef>
                <a:spcPts val="607"/>
              </a:spcBef>
              <a:buNone/>
            </a:pPr>
            <a:r>
              <a:rPr lang="en-US" sz="108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probability of failure in a forward window. Useful, but a single number is hard to act on.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034050" y="1716918"/>
            <a:ext cx="2562225" cy="1824037"/>
          </a:xfrm>
          <a:prstGeom prst="roundRect">
            <a:avLst>
              <a:gd name="adj" fmla="val 1567"/>
            </a:avLst>
          </a:prstGeom>
          <a:solidFill>
            <a:srgbClr val="002C5F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457" y="1917204"/>
            <a:ext cx="21574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PRESCRIPTIVE</a:t>
            </a:r>
            <a:endParaRPr lang="en-US" sz="790" dirty="0"/>
          </a:p>
        </p:txBody>
      </p:sp>
      <p:sp>
        <p:nvSpPr>
          <p:cNvPr id="15" name="Text 13"/>
          <p:cNvSpPr/>
          <p:nvPr/>
        </p:nvSpPr>
        <p:spPr>
          <a:xfrm>
            <a:off x="6236457" y="2119759"/>
            <a:ext cx="2157413" cy="2524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80"/>
              </a:lnSpc>
              <a:spcBef>
                <a:spcPts val="405"/>
              </a:spcBef>
              <a:buNone/>
            </a:pPr>
            <a:r>
              <a:rPr lang="en-US" sz="158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Decide the next step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6236457" y="2449041"/>
            <a:ext cx="2157413" cy="8905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55"/>
              </a:lnSpc>
              <a:spcBef>
                <a:spcPts val="607"/>
              </a:spcBef>
              <a:buNone/>
            </a:pPr>
            <a:r>
              <a:rPr lang="en-US" sz="108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+ likely component + evidence + recommended action. One object per machine, ready for an operator.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7650" y="3797796"/>
            <a:ext cx="3933825" cy="127158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0523" y="4131171"/>
            <a:ext cx="600075" cy="6048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76"/>
              </a:lnSpc>
              <a:buNone/>
            </a:pPr>
            <a:r>
              <a:rPr lang="en-US" sz="158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 = 1</a:t>
            </a:r>
            <a:endParaRPr lang="en-US" sz="1580" dirty="0"/>
          </a:p>
        </p:txBody>
      </p:sp>
      <p:sp>
        <p:nvSpPr>
          <p:cNvPr id="19" name="Text 17"/>
          <p:cNvSpPr/>
          <p:nvPr/>
        </p:nvSpPr>
        <p:spPr>
          <a:xfrm>
            <a:off x="1512094" y="4238327"/>
            <a:ext cx="2786063" cy="3905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 of any component in </a:t>
            </a:r>
            <a:r>
              <a:rPr lang="en-US" sz="112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(t, t + 24h]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662488" y="3797796"/>
            <a:ext cx="3933825" cy="127158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5583" y="3981152"/>
            <a:ext cx="314325" cy="904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76"/>
              </a:lnSpc>
              <a:buNone/>
            </a:pPr>
            <a:r>
              <a:rPr lang="en-US" sz="158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 = 0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5341441" y="4140659"/>
            <a:ext cx="3071813" cy="5857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Otherwise. One row per machine per hour, evaluated against operator pages and work orders.</a:t>
            </a:r>
            <a:endParaRPr lang="en-US" sz="112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50" y="1716918"/>
            <a:ext cx="2562225" cy="1824037"/>
          </a:xfrm>
          <a:prstGeom prst="rect">
            <a:avLst/>
          </a:prstGeom>
        </p:spPr>
      </p:pic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0850" y="1716918"/>
            <a:ext cx="2562225" cy="18240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5897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DATASET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602307"/>
            <a:ext cx="6400800" cy="766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24"/>
              </a:lnSpc>
              <a:spcBef>
                <a:spcPts val="607"/>
              </a:spcBef>
              <a:buNone/>
            </a:pPr>
            <a:r>
              <a:rPr lang="en-US" sz="2880" b="1" kern="0" spc="-72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Microsoft Predictive Maintenance benchmark.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548580" y="1446535"/>
            <a:ext cx="6400800" cy="4667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36"/>
              </a:lnSpc>
              <a:spcBef>
                <a:spcPts val="607"/>
              </a:spcBef>
              <a:buNone/>
            </a:pPr>
            <a:r>
              <a:rPr lang="en-US" sz="122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tables, 100 machines, one year of hourly telemetry. Realistic enough to defend, public enough to reproduce.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547390" y="2221037"/>
            <a:ext cx="1524000" cy="1362075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04552" y="2358293"/>
            <a:ext cx="12287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TELEMETRY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04552" y="2547045"/>
            <a:ext cx="1228725" cy="3571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8"/>
              </a:lnSpc>
              <a:spcBef>
                <a:spcPts val="405"/>
              </a:spcBef>
              <a:buNone/>
            </a:pPr>
            <a:r>
              <a:rPr lang="en-US" sz="187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876k</a:t>
            </a:r>
            <a:endParaRPr lang="en-US" sz="1870" dirty="0"/>
          </a:p>
        </p:txBody>
      </p:sp>
      <p:sp>
        <p:nvSpPr>
          <p:cNvPr id="9" name="Text 7"/>
          <p:cNvSpPr/>
          <p:nvPr/>
        </p:nvSpPr>
        <p:spPr>
          <a:xfrm>
            <a:off x="704552" y="2955094"/>
            <a:ext cx="1228725" cy="490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volt · rotate · pressure · vibration, hourly per machine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178695" y="2221037"/>
            <a:ext cx="1524000" cy="1362075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335857" y="2358293"/>
            <a:ext cx="12287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ERRORS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335857" y="2547045"/>
            <a:ext cx="1228725" cy="3571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8"/>
              </a:lnSpc>
              <a:spcBef>
                <a:spcPts val="405"/>
              </a:spcBef>
              <a:buNone/>
            </a:pPr>
            <a:r>
              <a:rPr lang="en-US" sz="187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~3.9k</a:t>
            </a:r>
            <a:endParaRPr lang="en-US" sz="1870" dirty="0"/>
          </a:p>
        </p:txBody>
      </p:sp>
      <p:sp>
        <p:nvSpPr>
          <p:cNvPr id="13" name="Text 11"/>
          <p:cNvSpPr/>
          <p:nvPr/>
        </p:nvSpPr>
        <p:spPr>
          <a:xfrm>
            <a:off x="2335857" y="2955094"/>
            <a:ext cx="1228725" cy="490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non-fatal error codes (error1–error5), timestamped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3810000" y="2221037"/>
            <a:ext cx="1524000" cy="1362075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967162" y="2358293"/>
            <a:ext cx="12287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MAINTENANCE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967162" y="2547045"/>
            <a:ext cx="1228725" cy="3571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8"/>
              </a:lnSpc>
              <a:spcBef>
                <a:spcPts val="405"/>
              </a:spcBef>
              <a:buNone/>
            </a:pPr>
            <a:r>
              <a:rPr lang="en-US" sz="187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~3.3k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3967162" y="2955094"/>
            <a:ext cx="1228725" cy="490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scheduled and reactive component replacements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441305" y="2221037"/>
            <a:ext cx="1524000" cy="1362075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598468" y="2358293"/>
            <a:ext cx="12287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FAILURES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598468" y="2547045"/>
            <a:ext cx="1228725" cy="3571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8"/>
              </a:lnSpc>
              <a:spcBef>
                <a:spcPts val="405"/>
              </a:spcBef>
              <a:buNone/>
            </a:pPr>
            <a:r>
              <a:rPr lang="en-US" sz="187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761</a:t>
            </a:r>
            <a:endParaRPr lang="en-US" sz="1870" dirty="0"/>
          </a:p>
        </p:txBody>
      </p:sp>
      <p:sp>
        <p:nvSpPr>
          <p:cNvPr id="21" name="Text 19"/>
          <p:cNvSpPr/>
          <p:nvPr/>
        </p:nvSpPr>
        <p:spPr>
          <a:xfrm>
            <a:off x="5598468" y="2955094"/>
            <a:ext cx="1228725" cy="490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ground-truth component failures — the label source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7072610" y="2221037"/>
            <a:ext cx="1524000" cy="1362075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229773" y="2358293"/>
            <a:ext cx="12287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MACHINES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7229773" y="2547045"/>
            <a:ext cx="1228725" cy="3571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8"/>
              </a:lnSpc>
              <a:spcBef>
                <a:spcPts val="405"/>
              </a:spcBef>
              <a:buNone/>
            </a:pPr>
            <a:r>
              <a:rPr lang="en-US" sz="187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100</a:t>
            </a:r>
            <a:endParaRPr lang="en-US" sz="1870" dirty="0"/>
          </a:p>
        </p:txBody>
      </p:sp>
      <p:sp>
        <p:nvSpPr>
          <p:cNvPr id="25" name="Text 23"/>
          <p:cNvSpPr/>
          <p:nvPr/>
        </p:nvSpPr>
        <p:spPr>
          <a:xfrm>
            <a:off x="7229773" y="2954387"/>
            <a:ext cx="1228725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models, age 0–20 years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547650" y="3890144"/>
            <a:ext cx="3933825" cy="1300163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007" y="4073203"/>
            <a:ext cx="35671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COVERAGE</a:t>
            </a:r>
            <a:endParaRPr lang="en-US" sz="790" dirty="0"/>
          </a:p>
        </p:txBody>
      </p:sp>
      <p:sp>
        <p:nvSpPr>
          <p:cNvPr id="28" name="Text 26"/>
          <p:cNvSpPr/>
          <p:nvPr/>
        </p:nvSpPr>
        <p:spPr>
          <a:xfrm>
            <a:off x="731007" y="4277097"/>
            <a:ext cx="3567113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76"/>
              </a:lnSpc>
              <a:spcBef>
                <a:spcPts val="405"/>
              </a:spcBef>
              <a:buNone/>
            </a:pPr>
            <a:r>
              <a:rPr lang="en-US" sz="158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Jan 1 – Dec 31, 2015</a:t>
            </a:r>
            <a:endParaRPr lang="en-US" sz="1580" dirty="0"/>
          </a:p>
        </p:txBody>
      </p:sp>
      <p:sp>
        <p:nvSpPr>
          <p:cNvPr id="29" name="Text 27"/>
          <p:cNvSpPr/>
          <p:nvPr/>
        </p:nvSpPr>
        <p:spPr>
          <a:xfrm>
            <a:off x="731007" y="4629820"/>
            <a:ext cx="3567113" cy="3762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spcBef>
                <a:spcPts val="405"/>
              </a:spcBef>
              <a:buNone/>
            </a:pPr>
            <a:r>
              <a:rPr lang="en-US" sz="108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~8,760 hourly rows per machine. Single year — only one season of degradation observed.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662488" y="3890144"/>
            <a:ext cx="3933825" cy="1300163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5844" y="4073203"/>
            <a:ext cx="35671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BALANCE</a:t>
            </a:r>
            <a:endParaRPr lang="en-US" sz="790" dirty="0"/>
          </a:p>
        </p:txBody>
      </p:sp>
      <p:sp>
        <p:nvSpPr>
          <p:cNvPr id="32" name="Text 30"/>
          <p:cNvSpPr/>
          <p:nvPr/>
        </p:nvSpPr>
        <p:spPr>
          <a:xfrm>
            <a:off x="4845844" y="4277097"/>
            <a:ext cx="3567113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76"/>
              </a:lnSpc>
              <a:spcBef>
                <a:spcPts val="405"/>
              </a:spcBef>
              <a:buNone/>
            </a:pPr>
            <a:r>
              <a:rPr lang="en-US" sz="158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≈ 0.42% positive</a:t>
            </a:r>
            <a:endParaRPr lang="en-US" sz="1580" dirty="0"/>
          </a:p>
        </p:txBody>
      </p:sp>
      <p:sp>
        <p:nvSpPr>
          <p:cNvPr id="33" name="Text 31"/>
          <p:cNvSpPr/>
          <p:nvPr/>
        </p:nvSpPr>
        <p:spPr>
          <a:xfrm>
            <a:off x="4845844" y="4629820"/>
            <a:ext cx="3567113" cy="3762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spcBef>
                <a:spcPts val="405"/>
              </a:spcBef>
              <a:buNone/>
            </a:pPr>
            <a:r>
              <a:rPr lang="en-US" sz="108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Severe imbalance. Drives the choice of PR-AUC as the primary metric and class-weighted training.</a:t>
            </a:r>
            <a:endParaRPr lang="en-US" sz="108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390" y="2221037"/>
            <a:ext cx="1524000" cy="1362075"/>
          </a:xfrm>
          <a:prstGeom prst="rect">
            <a:avLst/>
          </a:prstGeom>
        </p:spPr>
      </p:pic>
      <p:pic>
        <p:nvPicPr>
          <p:cNvPr id="3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8695" y="2221037"/>
            <a:ext cx="1524000" cy="1362075"/>
          </a:xfrm>
          <a:prstGeom prst="rect">
            <a:avLst/>
          </a:prstGeom>
        </p:spPr>
      </p:pic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0" y="2221037"/>
            <a:ext cx="1524000" cy="1362075"/>
          </a:xfrm>
          <a:prstGeom prst="rect">
            <a:avLst/>
          </a:prstGeom>
        </p:spPr>
      </p:pic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1305" y="2221037"/>
            <a:ext cx="1524000" cy="1362075"/>
          </a:xfrm>
          <a:prstGeom prst="rect">
            <a:avLst/>
          </a:prstGeom>
        </p:spPr>
      </p:pic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72610" y="2221037"/>
            <a:ext cx="1524000" cy="1362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0755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ARCHITECTURE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523615"/>
            <a:ext cx="7315200" cy="3476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22"/>
              </a:lnSpc>
              <a:spcBef>
                <a:spcPts val="405"/>
              </a:spcBef>
              <a:buNone/>
            </a:pPr>
            <a:r>
              <a:rPr lang="en-US" sz="2590" b="1" kern="0" spc="-65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Upload-driven staging, one atomic commit.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547688" y="1127113"/>
            <a:ext cx="8048625" cy="2390775"/>
          </a:xfrm>
          <a:prstGeom prst="roundRect">
            <a:avLst>
              <a:gd name="adj" fmla="val 119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937" y="1309092"/>
            <a:ext cx="1462088" cy="776287"/>
          </a:xfrm>
          <a:prstGeom prst="roundRect">
            <a:avLst>
              <a:gd name="adj" fmla="val 2454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237" y="1425550"/>
            <a:ext cx="123348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68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INGEST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46237" y="1584871"/>
            <a:ext cx="1233488" cy="385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spcBef>
                <a:spcPts val="243"/>
              </a:spcBef>
              <a:buNone/>
            </a:pPr>
            <a:r>
              <a:rPr lang="en-US" sz="101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CSVs · /upload-and-run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2286446" y="1309092"/>
            <a:ext cx="1462088" cy="776287"/>
          </a:xfrm>
          <a:prstGeom prst="roundRect">
            <a:avLst>
              <a:gd name="adj" fmla="val 2454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0746" y="1425550"/>
            <a:ext cx="123348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68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VALIDATE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2400746" y="1584871"/>
            <a:ext cx="1233488" cy="385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spcBef>
                <a:spcPts val="243"/>
              </a:spcBef>
              <a:buNone/>
            </a:pPr>
            <a:r>
              <a:rPr lang="en-US" sz="101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 · ranges · joins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3840956" y="1309092"/>
            <a:ext cx="1462088" cy="776287"/>
          </a:xfrm>
          <a:prstGeom prst="roundRect">
            <a:avLst>
              <a:gd name="adj" fmla="val 2454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5256" y="1425550"/>
            <a:ext cx="123348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68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FEATURES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3955256" y="1584871"/>
            <a:ext cx="1233488" cy="385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spcBef>
                <a:spcPts val="243"/>
              </a:spcBef>
              <a:buNone/>
            </a:pPr>
            <a:r>
              <a:rPr lang="en-US" sz="101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rolling · errors · maint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5395466" y="1309092"/>
            <a:ext cx="1462088" cy="776287"/>
          </a:xfrm>
          <a:prstGeom prst="roundRect">
            <a:avLst>
              <a:gd name="adj" fmla="val 2454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9766" y="1425550"/>
            <a:ext cx="123348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68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LABEL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509766" y="1586508"/>
            <a:ext cx="1233488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spcBef>
                <a:spcPts val="243"/>
              </a:spcBef>
              <a:buNone/>
            </a:pPr>
            <a:r>
              <a:rPr lang="en-US" sz="101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 in (t, t+24h]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6949976" y="1309092"/>
            <a:ext cx="1462088" cy="776287"/>
          </a:xfrm>
          <a:prstGeom prst="roundRect">
            <a:avLst>
              <a:gd name="adj" fmla="val 2454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64276" y="1425550"/>
            <a:ext cx="123348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68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TRAIN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7064276" y="1584871"/>
            <a:ext cx="1233488" cy="385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spcBef>
                <a:spcPts val="243"/>
              </a:spcBef>
              <a:buNone/>
            </a:pPr>
            <a:r>
              <a:rPr lang="en-US" sz="101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LR baseline → LightGBM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731044" y="2212963"/>
            <a:ext cx="7681912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28"/>
              </a:lnSpc>
              <a:buNone/>
            </a:pPr>
            <a:r>
              <a:rPr lang="en-US" sz="115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937" y="2559621"/>
            <a:ext cx="1462088" cy="776287"/>
          </a:xfrm>
          <a:prstGeom prst="roundRect">
            <a:avLst>
              <a:gd name="adj" fmla="val 2454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6237" y="2676079"/>
            <a:ext cx="123348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68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EVALUATE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846237" y="2835399"/>
            <a:ext cx="1233488" cy="385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spcBef>
                <a:spcPts val="243"/>
              </a:spcBef>
              <a:buNone/>
            </a:pPr>
            <a:r>
              <a:rPr lang="en-US" sz="101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PR-AUC · threshold tuning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2286446" y="2559621"/>
            <a:ext cx="1462088" cy="776287"/>
          </a:xfrm>
          <a:prstGeom prst="roundRect">
            <a:avLst>
              <a:gd name="adj" fmla="val 2454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00746" y="2676079"/>
            <a:ext cx="123348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68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INFERENCE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2400746" y="2835399"/>
            <a:ext cx="1233488" cy="385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spcBef>
                <a:spcPts val="243"/>
              </a:spcBef>
              <a:buNone/>
            </a:pPr>
            <a:r>
              <a:rPr lang="en-US" sz="101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predict_proba per row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3840956" y="2559621"/>
            <a:ext cx="1462088" cy="776287"/>
          </a:xfrm>
          <a:prstGeom prst="roundRect">
            <a:avLst>
              <a:gd name="adj" fmla="val 2454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5256" y="2676079"/>
            <a:ext cx="123348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68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HEALTH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3955256" y="2837036"/>
            <a:ext cx="1233488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spcBef>
                <a:spcPts val="243"/>
              </a:spcBef>
              <a:buNone/>
            </a:pPr>
            <a:r>
              <a:rPr lang="en-US" sz="101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→ state · action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5395466" y="2559621"/>
            <a:ext cx="1462088" cy="776287"/>
          </a:xfrm>
          <a:prstGeom prst="roundRect">
            <a:avLst>
              <a:gd name="adj" fmla="val 2454"/>
            </a:avLst>
          </a:prstGeom>
          <a:solidFill>
            <a:srgbClr val="002C5F"/>
          </a:solidFill>
          <a:ln/>
        </p:spPr>
      </p:sp>
      <p:sp>
        <p:nvSpPr>
          <p:cNvPr id="32" name="Text 30"/>
          <p:cNvSpPr/>
          <p:nvPr/>
        </p:nvSpPr>
        <p:spPr>
          <a:xfrm>
            <a:off x="5505004" y="2671316"/>
            <a:ext cx="1243013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6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TWIN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5505004" y="2830637"/>
            <a:ext cx="1243013" cy="385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spcBef>
                <a:spcPts val="243"/>
              </a:spcBef>
              <a:buNone/>
            </a:pPr>
            <a:r>
              <a:rPr lang="en-US" sz="101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 object per machine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6949976" y="2559621"/>
            <a:ext cx="1462088" cy="776287"/>
          </a:xfrm>
          <a:prstGeom prst="roundRect">
            <a:avLst>
              <a:gd name="adj" fmla="val 2454"/>
            </a:avLst>
          </a:prstGeom>
          <a:solidFill>
            <a:srgbClr val="002C5F"/>
          </a:solidFill>
          <a:ln/>
        </p:spPr>
      </p:sp>
      <p:sp>
        <p:nvSpPr>
          <p:cNvPr id="35" name="Text 33"/>
          <p:cNvSpPr/>
          <p:nvPr/>
        </p:nvSpPr>
        <p:spPr>
          <a:xfrm>
            <a:off x="7059513" y="2671316"/>
            <a:ext cx="1243013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6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7059513" y="2830637"/>
            <a:ext cx="1243013" cy="385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spcBef>
                <a:spcPts val="243"/>
              </a:spcBef>
              <a:buNone/>
            </a:pPr>
            <a:r>
              <a:rPr lang="en-US" sz="101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· CLI · React UI</a:t>
            </a:r>
            <a:endParaRPr lang="en-US" sz="1010" dirty="0"/>
          </a:p>
        </p:txBody>
      </p:sp>
      <p:sp>
        <p:nvSpPr>
          <p:cNvPr id="37" name="Text 35"/>
          <p:cNvSpPr/>
          <p:nvPr/>
        </p:nvSpPr>
        <p:spPr>
          <a:xfrm>
            <a:off x="548580" y="3697151"/>
            <a:ext cx="25908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r>
              <a:rPr lang="en-US" sz="101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MLflow runs · params · metrics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76563" y="3697151"/>
            <a:ext cx="25908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r>
              <a:rPr lang="en-US" sz="101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Data-quality &amp; drift report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004582" y="3697151"/>
            <a:ext cx="25908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r>
              <a:rPr lang="en-US" sz="101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Dockerised, model baked at build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9524"/>
            <a:ext cx="82296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21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SYSTEM FLOW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57200" y="343905"/>
            <a:ext cx="7315200" cy="2667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17"/>
              </a:lnSpc>
              <a:spcBef>
                <a:spcPts val="203"/>
              </a:spcBef>
              <a:buNone/>
            </a:pPr>
            <a:r>
              <a:rPr lang="en-US" sz="2020" b="1" kern="0" spc="-50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From CSV upload to operator action.</a:t>
            </a:r>
            <a:endParaRPr lang="en-US" sz="2020" dirty="0"/>
          </a:p>
        </p:txBody>
      </p:sp>
      <p:sp>
        <p:nvSpPr>
          <p:cNvPr id="5" name="Shape 3"/>
          <p:cNvSpPr/>
          <p:nvPr/>
        </p:nvSpPr>
        <p:spPr>
          <a:xfrm>
            <a:off x="457014" y="723863"/>
            <a:ext cx="2009775" cy="80486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26070" y="794407"/>
            <a:ext cx="1871663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kern="0" spc="5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· USER</a:t>
            </a:r>
            <a:endParaRPr lang="en-US" sz="560" dirty="0"/>
          </a:p>
        </p:txBody>
      </p:sp>
      <p:sp>
        <p:nvSpPr>
          <p:cNvPr id="7" name="Text 5"/>
          <p:cNvSpPr/>
          <p:nvPr/>
        </p:nvSpPr>
        <p:spPr>
          <a:xfrm>
            <a:off x="526070" y="931999"/>
            <a:ext cx="1871663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243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 dashboard or </a:t>
            </a:r>
            <a:r>
              <a:rPr lang="en-US" sz="72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curl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526070" y="1087041"/>
            <a:ext cx="1871663" cy="2524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243"/>
              </a:spcBef>
              <a:buNone/>
            </a:pPr>
            <a:r>
              <a:rPr lang="en-US" sz="72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Drops 5 PdM CSVs into named slots and clicks </a:t>
            </a:r>
            <a:r>
              <a:rPr lang="en-US" sz="72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 analysis</a:t>
            </a:r>
            <a:r>
              <a:rPr lang="en-US" sz="72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529743" y="723863"/>
            <a:ext cx="6157913" cy="80486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98800" y="794407"/>
            <a:ext cx="6019800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kern="0" spc="5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· FASTAPI · POST /UPLOAD-AND-RUN</a:t>
            </a:r>
            <a:endParaRPr lang="en-US" sz="560" dirty="0"/>
          </a:p>
        </p:txBody>
      </p:sp>
      <p:sp>
        <p:nvSpPr>
          <p:cNvPr id="11" name="Shape 9"/>
          <p:cNvSpPr/>
          <p:nvPr/>
        </p:nvSpPr>
        <p:spPr>
          <a:xfrm>
            <a:off x="2598390" y="930846"/>
            <a:ext cx="1962150" cy="528638"/>
          </a:xfrm>
          <a:prstGeom prst="roundRect">
            <a:avLst>
              <a:gd name="adj" fmla="val 3604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2209" y="1004441"/>
            <a:ext cx="1814513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2672209" y="1135521"/>
            <a:ext cx="1814513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16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Process-wide lock · </a:t>
            </a:r>
            <a:r>
              <a:rPr lang="en-US" sz="720" dirty="0">
                <a:solidFill>
                  <a:srgbClr val="0B13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429</a:t>
            </a: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contention.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4627587" y="930846"/>
            <a:ext cx="1962150" cy="528638"/>
          </a:xfrm>
          <a:prstGeom prst="roundRect">
            <a:avLst>
              <a:gd name="adj" fmla="val 3604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1406" y="1004441"/>
            <a:ext cx="1814513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4701406" y="1134070"/>
            <a:ext cx="1814513" cy="2524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720" dirty="0">
                <a:solidFill>
                  <a:srgbClr val="0B13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data/raw/.incoming/&lt;uuid&gt;/</a:t>
            </a: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size-capped per file.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656822" y="930846"/>
            <a:ext cx="1962150" cy="528638"/>
          </a:xfrm>
          <a:prstGeom prst="roundRect">
            <a:avLst>
              <a:gd name="adj" fmla="val 3604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0640" y="1004441"/>
            <a:ext cx="1814513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CLEANUP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6730640" y="1134070"/>
            <a:ext cx="1814513" cy="2524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720" dirty="0">
                <a:solidFill>
                  <a:srgbClr val="0B13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finally</a:t>
            </a: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removes staging tree on any failure.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457200" y="1591047"/>
            <a:ext cx="822960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79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457200" y="1806848"/>
            <a:ext cx="8229600" cy="671513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26256" y="1876313"/>
            <a:ext cx="8091487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kern="0" spc="5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· PIPELINE ON THE STAGED TREE</a:t>
            </a:r>
            <a:endParaRPr lang="en-US" sz="560" dirty="0"/>
          </a:p>
        </p:txBody>
      </p:sp>
      <p:sp>
        <p:nvSpPr>
          <p:cNvPr id="23" name="Shape 21"/>
          <p:cNvSpPr/>
          <p:nvPr/>
        </p:nvSpPr>
        <p:spPr>
          <a:xfrm>
            <a:off x="525735" y="2013831"/>
            <a:ext cx="1295400" cy="395287"/>
          </a:xfrm>
          <a:prstGeom prst="roundRect">
            <a:avLst>
              <a:gd name="adj" fmla="val 4819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792" y="2082812"/>
            <a:ext cx="1157288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pdm.io</a:t>
            </a:r>
            <a:endParaRPr lang="en-US" sz="560" dirty="0"/>
          </a:p>
        </p:txBody>
      </p:sp>
      <p:sp>
        <p:nvSpPr>
          <p:cNvPr id="25" name="Text 23"/>
          <p:cNvSpPr/>
          <p:nvPr/>
        </p:nvSpPr>
        <p:spPr>
          <a:xfrm>
            <a:off x="594792" y="2203586"/>
            <a:ext cx="11572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load_raw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1885131" y="2013831"/>
            <a:ext cx="1295400" cy="395287"/>
          </a:xfrm>
          <a:prstGeom prst="roundRect">
            <a:avLst>
              <a:gd name="adj" fmla="val 4819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54188" y="2082812"/>
            <a:ext cx="1157288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pdm.validate</a:t>
            </a:r>
            <a:endParaRPr lang="en-US" sz="560" dirty="0"/>
          </a:p>
        </p:txBody>
      </p:sp>
      <p:sp>
        <p:nvSpPr>
          <p:cNvPr id="28" name="Text 26"/>
          <p:cNvSpPr/>
          <p:nvPr/>
        </p:nvSpPr>
        <p:spPr>
          <a:xfrm>
            <a:off x="1954188" y="2203586"/>
            <a:ext cx="11572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 · ranges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3244565" y="2013831"/>
            <a:ext cx="1295400" cy="395287"/>
          </a:xfrm>
          <a:prstGeom prst="roundRect">
            <a:avLst>
              <a:gd name="adj" fmla="val 4819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3621" y="2082812"/>
            <a:ext cx="1157288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pdm.features</a:t>
            </a:r>
            <a:endParaRPr lang="en-US" sz="560" dirty="0"/>
          </a:p>
        </p:txBody>
      </p:sp>
      <p:sp>
        <p:nvSpPr>
          <p:cNvPr id="31" name="Text 29"/>
          <p:cNvSpPr/>
          <p:nvPr/>
        </p:nvSpPr>
        <p:spPr>
          <a:xfrm>
            <a:off x="3313621" y="2203586"/>
            <a:ext cx="11572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rolling · err · maint · age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603998" y="2013831"/>
            <a:ext cx="1295400" cy="395287"/>
          </a:xfrm>
          <a:prstGeom prst="roundRect">
            <a:avLst>
              <a:gd name="adj" fmla="val 4819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73054" y="2082812"/>
            <a:ext cx="1157288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pdm.labels + split</a:t>
            </a:r>
            <a:endParaRPr lang="en-US" sz="560" dirty="0"/>
          </a:p>
        </p:txBody>
      </p:sp>
      <p:sp>
        <p:nvSpPr>
          <p:cNvPr id="34" name="Text 32"/>
          <p:cNvSpPr/>
          <p:nvPr/>
        </p:nvSpPr>
        <p:spPr>
          <a:xfrm>
            <a:off x="4673054" y="2203586"/>
            <a:ext cx="11572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in (t, t+24h] · cutoff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5963394" y="2013831"/>
            <a:ext cx="1295400" cy="395287"/>
          </a:xfrm>
          <a:prstGeom prst="roundRect">
            <a:avLst>
              <a:gd name="adj" fmla="val 4819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2450" y="2082812"/>
            <a:ext cx="1157288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pdm.train</a:t>
            </a:r>
            <a:endParaRPr lang="en-US" sz="560" dirty="0"/>
          </a:p>
        </p:txBody>
      </p:sp>
      <p:sp>
        <p:nvSpPr>
          <p:cNvPr id="37" name="Text 35"/>
          <p:cNvSpPr/>
          <p:nvPr/>
        </p:nvSpPr>
        <p:spPr>
          <a:xfrm>
            <a:off x="6032450" y="2203586"/>
            <a:ext cx="11572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LR + LightGBM · MLflow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7322827" y="2013831"/>
            <a:ext cx="1295400" cy="395287"/>
          </a:xfrm>
          <a:prstGeom prst="roundRect">
            <a:avLst>
              <a:gd name="adj" fmla="val 4819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91884" y="2082812"/>
            <a:ext cx="1157288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pdm.evaluate · drift</a:t>
            </a:r>
            <a:endParaRPr lang="en-US" sz="560" dirty="0"/>
          </a:p>
        </p:txBody>
      </p:sp>
      <p:sp>
        <p:nvSpPr>
          <p:cNvPr id="40" name="Text 38"/>
          <p:cNvSpPr/>
          <p:nvPr/>
        </p:nvSpPr>
        <p:spPr>
          <a:xfrm>
            <a:off x="7391884" y="2203586"/>
            <a:ext cx="11572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PR-AUC · PSI report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457200" y="2541761"/>
            <a:ext cx="822960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79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790" dirty="0"/>
          </a:p>
        </p:txBody>
      </p:sp>
      <p:sp>
        <p:nvSpPr>
          <p:cNvPr id="42" name="Shape 40"/>
          <p:cNvSpPr/>
          <p:nvPr/>
        </p:nvSpPr>
        <p:spPr>
          <a:xfrm>
            <a:off x="457870" y="2756855"/>
            <a:ext cx="4081462" cy="819150"/>
          </a:xfrm>
          <a:prstGeom prst="roundRect">
            <a:avLst>
              <a:gd name="adj" fmla="val 3488"/>
            </a:avLst>
          </a:prstGeom>
          <a:solidFill>
            <a:srgbClr val="002C5F"/>
          </a:solidFill>
          <a:ln/>
        </p:spPr>
      </p:sp>
      <p:sp>
        <p:nvSpPr>
          <p:cNvPr id="43" name="Text 41"/>
          <p:cNvSpPr/>
          <p:nvPr/>
        </p:nvSpPr>
        <p:spPr>
          <a:xfrm>
            <a:off x="524545" y="2827027"/>
            <a:ext cx="3948112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kern="0" spc="5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· ATOMIC COMMIT</a:t>
            </a:r>
            <a:endParaRPr lang="en-US" sz="560" dirty="0"/>
          </a:p>
        </p:txBody>
      </p:sp>
      <p:sp>
        <p:nvSpPr>
          <p:cNvPr id="44" name="Text 42"/>
          <p:cNvSpPr/>
          <p:nvPr/>
        </p:nvSpPr>
        <p:spPr>
          <a:xfrm>
            <a:off x="524545" y="2958815"/>
            <a:ext cx="3948112" cy="1000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792"/>
              </a:lnSpc>
              <a:spcBef>
                <a:spcPts val="203"/>
              </a:spcBef>
              <a:buNone/>
            </a:pPr>
            <a:r>
              <a:rPr lang="en-US" sz="58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staged file </a:t>
            </a:r>
            <a:r>
              <a:rPr lang="en-US" sz="58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os.replace</a:t>
            </a:r>
            <a:r>
              <a:rPr lang="en-US" sz="58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-d into its canonical path; then </a:t>
            </a:r>
            <a:r>
              <a:rPr lang="en-US" sz="58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.session.json</a:t>
            </a:r>
            <a:r>
              <a:rPr lang="en-US" sz="58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sentinel written temp + rename.</a:t>
            </a:r>
            <a:endParaRPr lang="en-US" sz="580" dirty="0"/>
          </a:p>
        </p:txBody>
      </p:sp>
      <p:sp>
        <p:nvSpPr>
          <p:cNvPr id="45" name="Text 43"/>
          <p:cNvSpPr/>
          <p:nvPr/>
        </p:nvSpPr>
        <p:spPr>
          <a:xfrm>
            <a:off x="524545" y="3088891"/>
            <a:ext cx="3948112" cy="1000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772"/>
              </a:lnSpc>
              <a:spcBef>
                <a:spcPts val="243"/>
              </a:spcBef>
              <a:buNone/>
            </a:pPr>
            <a:r>
              <a:rPr lang="en-US" sz="56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failed stage leaves the live dataset and the prior session untouched. Predictor cache is reset on success.</a:t>
            </a:r>
            <a:endParaRPr lang="en-US" sz="560" dirty="0"/>
          </a:p>
        </p:txBody>
      </p:sp>
      <p:sp>
        <p:nvSpPr>
          <p:cNvPr id="46" name="Shape 44"/>
          <p:cNvSpPr/>
          <p:nvPr/>
        </p:nvSpPr>
        <p:spPr>
          <a:xfrm>
            <a:off x="4604668" y="2756855"/>
            <a:ext cx="4081462" cy="8191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671343" y="2827027"/>
            <a:ext cx="3948112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kern="0" spc="5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· CANONICAL STATE</a:t>
            </a:r>
            <a:endParaRPr lang="en-US" sz="560" dirty="0"/>
          </a:p>
        </p:txBody>
      </p:sp>
      <p:sp>
        <p:nvSpPr>
          <p:cNvPr id="48" name="Shape 46"/>
          <p:cNvSpPr/>
          <p:nvPr/>
        </p:nvSpPr>
        <p:spPr>
          <a:xfrm>
            <a:off x="4671417" y="2963838"/>
            <a:ext cx="1943100" cy="542925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45236" y="3038066"/>
            <a:ext cx="1795462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data/raw/</a:t>
            </a:r>
            <a:endParaRPr lang="en-US" sz="560" dirty="0"/>
          </a:p>
        </p:txBody>
      </p:sp>
      <p:sp>
        <p:nvSpPr>
          <p:cNvPr id="50" name="Text 48"/>
          <p:cNvSpPr/>
          <p:nvPr/>
        </p:nvSpPr>
        <p:spPr>
          <a:xfrm>
            <a:off x="4745236" y="3158840"/>
            <a:ext cx="179546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PdM_*.csv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6676281" y="2963838"/>
            <a:ext cx="1943100" cy="542925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50100" y="3038066"/>
            <a:ext cx="1795462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artifacts/</a:t>
            </a:r>
            <a:endParaRPr lang="en-US" sz="560" dirty="0"/>
          </a:p>
        </p:txBody>
      </p:sp>
      <p:sp>
        <p:nvSpPr>
          <p:cNvPr id="53" name="Text 51"/>
          <p:cNvSpPr/>
          <p:nvPr/>
        </p:nvSpPr>
        <p:spPr>
          <a:xfrm>
            <a:off x="6750100" y="3158356"/>
            <a:ext cx="1795462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model.joblib · metrics.json · threshold.json · plots · drift_report.md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457200" y="3638699"/>
            <a:ext cx="822960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79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790" dirty="0"/>
          </a:p>
        </p:txBody>
      </p:sp>
      <p:sp>
        <p:nvSpPr>
          <p:cNvPr id="55" name="Shape 53"/>
          <p:cNvSpPr/>
          <p:nvPr/>
        </p:nvSpPr>
        <p:spPr>
          <a:xfrm>
            <a:off x="457200" y="3854797"/>
            <a:ext cx="8229600" cy="842963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525587" y="3947778"/>
            <a:ext cx="2595563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kern="0" spc="5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· SENTINEL-GATED READ API · 7 · TWIN ASSEMBLY → UI</a:t>
            </a:r>
            <a:endParaRPr lang="en-US" sz="560" dirty="0"/>
          </a:p>
        </p:txBody>
      </p:sp>
      <p:sp>
        <p:nvSpPr>
          <p:cNvPr id="57" name="Text 55"/>
          <p:cNvSpPr/>
          <p:nvPr/>
        </p:nvSpPr>
        <p:spPr>
          <a:xfrm>
            <a:off x="4560763" y="3922402"/>
            <a:ext cx="405765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/session · /info · /machines · POST /predict · GET /history · /metrics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525959" y="4096122"/>
            <a:ext cx="1566862" cy="533400"/>
          </a:xfrm>
          <a:prstGeom prst="roundRect">
            <a:avLst>
              <a:gd name="adj" fmla="val 3571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9777" y="4170350"/>
            <a:ext cx="1419225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pdm.predict</a:t>
            </a:r>
            <a:endParaRPr lang="en-US" sz="560" dirty="0"/>
          </a:p>
        </p:txBody>
      </p:sp>
      <p:sp>
        <p:nvSpPr>
          <p:cNvPr id="60" name="Text 58"/>
          <p:cNvSpPr/>
          <p:nvPr/>
        </p:nvSpPr>
        <p:spPr>
          <a:xfrm>
            <a:off x="599777" y="4291124"/>
            <a:ext cx="14192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predict_proba(row)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2157264" y="4096122"/>
            <a:ext cx="1566862" cy="533400"/>
          </a:xfrm>
          <a:prstGeom prst="roundRect">
            <a:avLst>
              <a:gd name="adj" fmla="val 3571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31082" y="4170350"/>
            <a:ext cx="1419225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pdm.health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2231082" y="4291124"/>
            <a:ext cx="14192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+ prescription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3788569" y="4096122"/>
            <a:ext cx="1566862" cy="533400"/>
          </a:xfrm>
          <a:prstGeom prst="roundRect">
            <a:avLst>
              <a:gd name="adj" fmla="val 3571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62387" y="4170350"/>
            <a:ext cx="1419225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pdm.likely_component</a:t>
            </a:r>
            <a:endParaRPr lang="en-US" sz="560" dirty="0"/>
          </a:p>
        </p:txBody>
      </p:sp>
      <p:sp>
        <p:nvSpPr>
          <p:cNvPr id="66" name="Text 64"/>
          <p:cNvSpPr/>
          <p:nvPr/>
        </p:nvSpPr>
        <p:spPr>
          <a:xfrm>
            <a:off x="3862387" y="4291124"/>
            <a:ext cx="14192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rule-based ranker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5419874" y="4096122"/>
            <a:ext cx="1566862" cy="533400"/>
          </a:xfrm>
          <a:prstGeom prst="roundRect">
            <a:avLst>
              <a:gd name="adj" fmla="val 3571"/>
            </a:avLst>
          </a:prstGeom>
          <a:solidFill>
            <a:srgbClr val="F4F6F9"/>
          </a:solidFill>
          <a:ln w="4763">
            <a:solidFill>
              <a:srgbClr val="D8DEE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93693" y="4170350"/>
            <a:ext cx="1419225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pdm.twin</a:t>
            </a:r>
            <a:endParaRPr lang="en-US" sz="560" dirty="0"/>
          </a:p>
        </p:txBody>
      </p:sp>
      <p:sp>
        <p:nvSpPr>
          <p:cNvPr id="69" name="Text 67"/>
          <p:cNvSpPr/>
          <p:nvPr/>
        </p:nvSpPr>
        <p:spPr>
          <a:xfrm>
            <a:off x="5493693" y="4291124"/>
            <a:ext cx="14192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 object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7051179" y="4096122"/>
            <a:ext cx="1566862" cy="533400"/>
          </a:xfrm>
          <a:prstGeom prst="roundRect">
            <a:avLst>
              <a:gd name="adj" fmla="val 3571"/>
            </a:avLst>
          </a:prstGeom>
          <a:solidFill>
            <a:srgbClr val="002C5F"/>
          </a:solidFill>
          <a:ln/>
        </p:spPr>
      </p:sp>
      <p:sp>
        <p:nvSpPr>
          <p:cNvPr id="71" name="Text 69"/>
          <p:cNvSpPr/>
          <p:nvPr/>
        </p:nvSpPr>
        <p:spPr>
          <a:xfrm>
            <a:off x="7120235" y="4165588"/>
            <a:ext cx="1428750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 dashboard</a:t>
            </a:r>
            <a:endParaRPr lang="en-US" sz="560" dirty="0"/>
          </a:p>
        </p:txBody>
      </p:sp>
      <p:sp>
        <p:nvSpPr>
          <p:cNvPr id="72" name="Text 70"/>
          <p:cNvSpPr/>
          <p:nvPr/>
        </p:nvSpPr>
        <p:spPr>
          <a:xfrm>
            <a:off x="7120235" y="4285878"/>
            <a:ext cx="142875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2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Operator sees risk, evidence, action.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5897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DATA PIPELINE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576486"/>
            <a:ext cx="6858000" cy="7286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73"/>
              </a:lnSpc>
              <a:spcBef>
                <a:spcPts val="405"/>
              </a:spcBef>
              <a:buNone/>
            </a:pPr>
            <a:r>
              <a:rPr lang="en-US" sz="2740" b="1" kern="0" spc="-68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Deterministic joins, validated at every step.</a:t>
            </a:r>
            <a:endParaRPr lang="en-US" sz="2740" dirty="0"/>
          </a:p>
        </p:txBody>
      </p:sp>
      <p:sp>
        <p:nvSpPr>
          <p:cNvPr id="5" name="Shape 3"/>
          <p:cNvSpPr/>
          <p:nvPr/>
        </p:nvSpPr>
        <p:spPr>
          <a:xfrm>
            <a:off x="547650" y="1562137"/>
            <a:ext cx="4638675" cy="3262312"/>
          </a:xfrm>
          <a:prstGeom prst="roundRect">
            <a:avLst>
              <a:gd name="adj" fmla="val 87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007" y="1744861"/>
            <a:ext cx="427196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GUARANTEES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730374" y="1998985"/>
            <a:ext cx="166688" cy="3905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006264" y="1998985"/>
            <a:ext cx="3995737" cy="3905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 checks</a:t>
            </a:r>
            <a:r>
              <a:rPr lang="en-US" sz="112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dtypes, expected columns, allowed code ranges (error1–error5, comp1–comp4).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30374" y="2465859"/>
            <a:ext cx="166688" cy="3905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006264" y="2465859"/>
            <a:ext cx="3995737" cy="3905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Timestamp alignment</a:t>
            </a:r>
            <a:r>
              <a:rPr lang="en-US" sz="112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telemetry is the hourly grid; errors and maintenance are bucketed to that grid before joins.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30374" y="2932733"/>
            <a:ext cx="166688" cy="3905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006264" y="2932733"/>
            <a:ext cx="3995737" cy="3905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merges</a:t>
            </a:r>
            <a:r>
              <a:rPr lang="en-US" sz="112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left-joins on (machineID, datetime). No fuzzy windows; same input always yields same frame.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30374" y="3399606"/>
            <a:ext cx="166688" cy="3905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006264" y="3399606"/>
            <a:ext cx="3995737" cy="3905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&amp; outliers</a:t>
            </a:r>
            <a:r>
              <a:rPr lang="en-US" sz="112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forward-fill for last-event features; rolling stats handle gaps inside their window.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30374" y="3866480"/>
            <a:ext cx="166688" cy="3905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006264" y="3866480"/>
            <a:ext cx="3995737" cy="3905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Reproducibility</a:t>
            </a:r>
            <a:r>
              <a:rPr lang="en-US" sz="112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seeds pinned, config snapshotted into the run, artefacts written to artifacts/.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323024" y="1562137"/>
            <a:ext cx="3271838" cy="3262312"/>
          </a:xfrm>
          <a:prstGeom prst="roundRect">
            <a:avLst>
              <a:gd name="adj" fmla="val 876"/>
            </a:avLst>
          </a:prstGeom>
          <a:solidFill>
            <a:srgbClr val="0B1320"/>
          </a:solidFill>
          <a:ln/>
        </p:spPr>
      </p:sp>
      <p:sp>
        <p:nvSpPr>
          <p:cNvPr id="18" name="Text 16"/>
          <p:cNvSpPr/>
          <p:nvPr/>
        </p:nvSpPr>
        <p:spPr>
          <a:xfrm>
            <a:off x="5506380" y="1745121"/>
            <a:ext cx="29051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VALIDATE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506380" y="1959769"/>
            <a:ext cx="2905125" cy="26812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8"/>
              </a:lnSpc>
              <a:spcBef>
                <a:spcPts val="607"/>
              </a:spcBef>
              <a:buNone/>
            </a:pPr>
            <a:r>
              <a:rPr lang="en-US" sz="83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assert telemetry.columns == ["datetime","machineID", "volt","rotate", "pressure","vibration"] assert errors.errorID .isin({"error1",..,"error5"}).all() frame = (telemetry .merge(errors_hourly, how="left") .merge(maint_hourly, how="left") .merge(machines, how="left")) assert frame.duplicated( ["machineID","datetime"]).sum() == 0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33226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FEATURES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549287"/>
            <a:ext cx="7315200" cy="3476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22"/>
              </a:lnSpc>
              <a:spcBef>
                <a:spcPts val="405"/>
              </a:spcBef>
              <a:buNone/>
            </a:pPr>
            <a:r>
              <a:rPr lang="en-US" sz="2590" b="1" kern="0" spc="-65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45 features. Every one is auditable.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549176" y="1152711"/>
            <a:ext cx="1914525" cy="1371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94432" y="1317985"/>
            <a:ext cx="16240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ROLLING TELEMETRY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694432" y="1507294"/>
            <a:ext cx="1624012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92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24</a:t>
            </a:r>
            <a:endParaRPr lang="en-US" sz="1730" dirty="0"/>
          </a:p>
        </p:txBody>
      </p:sp>
      <p:sp>
        <p:nvSpPr>
          <p:cNvPr id="8" name="Text 6"/>
          <p:cNvSpPr/>
          <p:nvPr/>
        </p:nvSpPr>
        <p:spPr>
          <a:xfrm>
            <a:off x="694432" y="1887327"/>
            <a:ext cx="1624012" cy="490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&amp; std of volt, rotate, pressure, vibration over </a:t>
            </a:r>
            <a:r>
              <a:rPr lang="en-US" sz="94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3h · 24h · 72h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2592884" y="1152711"/>
            <a:ext cx="1914525" cy="1371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738140" y="1317985"/>
            <a:ext cx="16240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 COUNTS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2738140" y="1507294"/>
            <a:ext cx="1624012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92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1730" dirty="0"/>
          </a:p>
        </p:txBody>
      </p:sp>
      <p:sp>
        <p:nvSpPr>
          <p:cNvPr id="12" name="Text 10"/>
          <p:cNvSpPr/>
          <p:nvPr/>
        </p:nvSpPr>
        <p:spPr>
          <a:xfrm>
            <a:off x="2738140" y="1886620"/>
            <a:ext cx="1624012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per-code counts over 24h + total errors over 24h / 72h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636591" y="1152711"/>
            <a:ext cx="1914525" cy="1371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81848" y="1317985"/>
            <a:ext cx="16240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MAINTENANCE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781848" y="1507294"/>
            <a:ext cx="1624012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92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730" dirty="0"/>
          </a:p>
        </p:txBody>
      </p:sp>
      <p:sp>
        <p:nvSpPr>
          <p:cNvPr id="16" name="Text 14"/>
          <p:cNvSpPr/>
          <p:nvPr/>
        </p:nvSpPr>
        <p:spPr>
          <a:xfrm>
            <a:off x="4781848" y="1886620"/>
            <a:ext cx="1624012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buNone/>
            </a:pPr>
            <a:r>
              <a:rPr lang="en-US" sz="94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hours_since_maint_comp1..4</a:t>
            </a:r>
            <a:r>
              <a:rPr lang="en-US" sz="9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interpretable feature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680299" y="1152711"/>
            <a:ext cx="1914525" cy="1371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25555" y="1317985"/>
            <a:ext cx="16240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MACHINE CONTEXT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6825555" y="1507294"/>
            <a:ext cx="1624012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92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730" dirty="0"/>
          </a:p>
        </p:txBody>
      </p:sp>
      <p:sp>
        <p:nvSpPr>
          <p:cNvPr id="20" name="Text 18"/>
          <p:cNvSpPr/>
          <p:nvPr/>
        </p:nvSpPr>
        <p:spPr>
          <a:xfrm>
            <a:off x="6825555" y="1886620"/>
            <a:ext cx="1624012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buNone/>
            </a:pPr>
            <a:r>
              <a:rPr lang="en-US" sz="94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age_at_t_years</a:t>
            </a:r>
            <a:r>
              <a:rPr lang="en-US" sz="9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 one-hot model1..4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547688" y="2729433"/>
            <a:ext cx="8048625" cy="2576512"/>
          </a:xfrm>
          <a:prstGeom prst="roundRect">
            <a:avLst>
              <a:gd name="adj" fmla="val 1109"/>
            </a:avLst>
          </a:prstGeom>
          <a:solidFill>
            <a:srgbClr val="0B1320"/>
          </a:solidFill>
          <a:ln/>
        </p:spPr>
      </p:sp>
      <p:sp>
        <p:nvSpPr>
          <p:cNvPr id="22" name="Text 20"/>
          <p:cNvSpPr/>
          <p:nvPr/>
        </p:nvSpPr>
        <p:spPr>
          <a:xfrm>
            <a:off x="713891" y="2893628"/>
            <a:ext cx="30051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SRC/PDM/FEATURES.PY · _ROLLING_STATS (VERBATIM)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6920508" y="2899693"/>
            <a:ext cx="1509712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closed='left' = leakage guard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11994" y="3083272"/>
            <a:ext cx="7720012" cy="2057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7"/>
              </a:lnSpc>
              <a:spcBef>
                <a:spcPts val="405"/>
              </a:spcBef>
              <a:buNone/>
            </a:pPr>
            <a:r>
              <a:rPr lang="en-US" sz="76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_rolling_stats(telemetry, cols, windows_h): out = telemetry[["datetime", "machineID"]].copy() t = telemetry.set_index("datetime") grouped = t.groupby("machineID", sort=False, group_keys=False) for w in windows_h: win = f"{w}h" rolled_mean = grouped[cols].rolling(win, closed="left").mean() rolled_std = grouped[cols].rolling(win, closed="left").std() rolled_mean.columns = [f"{c}_mean_{w}h" for c in cols] rolled_std.columns = [f"{c}_std_{w}h" for c in cols] rolled = pd.concat([rolled_mean, rolled_std], axis=1).reset_index() out = out.merge(rolled, on=["machineID", "datetime"], how="left") return out</a:t>
            </a:r>
            <a:endParaRPr lang="en-US" sz="76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176" y="1152711"/>
            <a:ext cx="1914525" cy="1371600"/>
          </a:xfrm>
          <a:prstGeom prst="rect">
            <a:avLst/>
          </a:prstGeom>
        </p:spPr>
      </p:pic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2884" y="1152711"/>
            <a:ext cx="1914525" cy="1371600"/>
          </a:xfrm>
          <a:prstGeom prst="rect">
            <a:avLst/>
          </a:prstGeom>
        </p:spPr>
      </p:pic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6591" y="1152711"/>
            <a:ext cx="1914525" cy="1371600"/>
          </a:xfrm>
          <a:prstGeom prst="rect">
            <a:avLst/>
          </a:prstGeom>
        </p:spPr>
      </p:pic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0299" y="1152711"/>
            <a:ext cx="1914525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5897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LABELS &amp; SPLIT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576486"/>
            <a:ext cx="6858000" cy="7286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73"/>
              </a:lnSpc>
              <a:spcBef>
                <a:spcPts val="405"/>
              </a:spcBef>
              <a:buNone/>
            </a:pPr>
            <a:r>
              <a:rPr lang="en-US" sz="2740" b="1" kern="0" spc="-68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Time-aware split. Leakage is non-negotiable.</a:t>
            </a:r>
            <a:endParaRPr lang="en-US" sz="2740" dirty="0"/>
          </a:p>
        </p:txBody>
      </p:sp>
      <p:sp>
        <p:nvSpPr>
          <p:cNvPr id="5" name="Shape 3"/>
          <p:cNvSpPr/>
          <p:nvPr/>
        </p:nvSpPr>
        <p:spPr>
          <a:xfrm>
            <a:off x="547650" y="1561914"/>
            <a:ext cx="4638675" cy="2247900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007" y="1744861"/>
            <a:ext cx="427196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LABEL RULE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731007" y="1948011"/>
            <a:ext cx="4271963" cy="4524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0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y(machineID, t) = 1</a:t>
            </a:r>
            <a:r>
              <a:rPr lang="en-US" sz="130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if any failure in </a:t>
            </a:r>
            <a:r>
              <a:rPr lang="en-US" sz="130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(t, t+24h]</a:t>
            </a:r>
            <a:r>
              <a:rPr lang="en-US" sz="130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else </a:t>
            </a:r>
            <a:r>
              <a:rPr lang="en-US" sz="130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r>
              <a:rPr lang="en-US" sz="130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453" y="2554300"/>
            <a:ext cx="20669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CUTOFF DATE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731453" y="2717862"/>
            <a:ext cx="2066925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92"/>
              </a:lnSpc>
              <a:spcBef>
                <a:spcPts val="203"/>
              </a:spcBef>
              <a:buNone/>
            </a:pPr>
            <a:r>
              <a:rPr lang="en-US" sz="173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Oct 1, 2015</a:t>
            </a:r>
            <a:endParaRPr lang="en-US" sz="1730" dirty="0"/>
          </a:p>
        </p:txBody>
      </p:sp>
      <p:sp>
        <p:nvSpPr>
          <p:cNvPr id="10" name="Text 8"/>
          <p:cNvSpPr/>
          <p:nvPr/>
        </p:nvSpPr>
        <p:spPr>
          <a:xfrm>
            <a:off x="731453" y="3097820"/>
            <a:ext cx="2066925" cy="5286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405"/>
              </a:spcBef>
              <a:buNone/>
            </a:pP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 on Jan–Sep, hold out Oct–Dec. ~9 months train, ~3 months test.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2935598" y="2554300"/>
            <a:ext cx="20669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SINGLE CUTOFF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935598" y="2717862"/>
            <a:ext cx="2066925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92"/>
              </a:lnSpc>
              <a:spcBef>
                <a:spcPts val="203"/>
              </a:spcBef>
              <a:buNone/>
            </a:pPr>
            <a:r>
              <a:rPr lang="en-US" sz="173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Honest baseline</a:t>
            </a:r>
            <a:endParaRPr lang="en-US" sz="1730" dirty="0"/>
          </a:p>
        </p:txBody>
      </p:sp>
      <p:sp>
        <p:nvSpPr>
          <p:cNvPr id="13" name="Text 11"/>
          <p:cNvSpPr/>
          <p:nvPr/>
        </p:nvSpPr>
        <p:spPr>
          <a:xfrm>
            <a:off x="2935598" y="3097820"/>
            <a:ext cx="2066925" cy="5286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405"/>
              </a:spcBef>
              <a:buNone/>
            </a:pP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Mirrors "train on history, score the future." K-fold across time would inflate scores.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5323024" y="1561914"/>
            <a:ext cx="3271838" cy="2247900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506380" y="1744861"/>
            <a:ext cx="29051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LEAKAGE CONTROLS</a:t>
            </a:r>
            <a:endParaRPr lang="en-US" sz="790" dirty="0"/>
          </a:p>
        </p:txBody>
      </p:sp>
      <p:sp>
        <p:nvSpPr>
          <p:cNvPr id="16" name="Text 14"/>
          <p:cNvSpPr/>
          <p:nvPr/>
        </p:nvSpPr>
        <p:spPr>
          <a:xfrm>
            <a:off x="5506380" y="1972642"/>
            <a:ext cx="2905125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at </a:t>
            </a:r>
            <a:r>
              <a:rPr lang="en-US" sz="108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</a:t>
            </a: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use only data </a:t>
            </a:r>
            <a:r>
              <a:rPr lang="en-US" sz="108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t</a:t>
            </a: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506380" y="2224311"/>
            <a:ext cx="2905125" cy="3762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Rolling windows are causal — no centred windows.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506380" y="2663130"/>
            <a:ext cx="2905125" cy="3762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Failures after the test cutoff never enter training labels.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506380" y="3101950"/>
            <a:ext cx="2905125" cy="3762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unit test asserts the labelling function on a hand-built fixture.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7688" y="3988445"/>
            <a:ext cx="8048625" cy="1652587"/>
          </a:xfrm>
          <a:prstGeom prst="roundRect">
            <a:avLst>
              <a:gd name="adj" fmla="val 1729"/>
            </a:avLst>
          </a:prstGeom>
          <a:solidFill>
            <a:srgbClr val="0B1320"/>
          </a:solidFill>
          <a:ln/>
        </p:spPr>
      </p:sp>
      <p:sp>
        <p:nvSpPr>
          <p:cNvPr id="21" name="Text 19"/>
          <p:cNvSpPr/>
          <p:nvPr/>
        </p:nvSpPr>
        <p:spPr>
          <a:xfrm>
            <a:off x="695325" y="4134780"/>
            <a:ext cx="775335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SRC/PDM/LABELS.PY · LABEL_IN_WINDOW (VERBATIM)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695325" y="4323234"/>
            <a:ext cx="7753350" cy="11715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52"/>
              </a:lnSpc>
              <a:spcBef>
                <a:spcPts val="405"/>
              </a:spcBef>
              <a:buNone/>
            </a:pPr>
            <a:r>
              <a:rPr lang="en-US" sz="72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merged = pd.merge_asof( base, fail, left_on="datetime", right_on="fail_dt", by="machineID", direction="forward", allow_exact_matches=False, # window is strictly OPEN at t ) delta = merged["fail_dt"] - merged["datetime"] label = ((delta &gt; pd.Timedelta(0)) &amp; (delta &lt;= horizon)).astype("int8")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5897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· MODELLING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576486"/>
            <a:ext cx="6858000" cy="7286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73"/>
              </a:lnSpc>
              <a:spcBef>
                <a:spcPts val="405"/>
              </a:spcBef>
              <a:buNone/>
            </a:pPr>
            <a:r>
              <a:rPr lang="en-US" sz="2740" b="1" kern="0" spc="-68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Beat a linear baseline. Then ship the gradient booster.</a:t>
            </a:r>
            <a:endParaRPr lang="en-US" sz="2740" dirty="0"/>
          </a:p>
        </p:txBody>
      </p:sp>
      <p:sp>
        <p:nvSpPr>
          <p:cNvPr id="5" name="Shape 3"/>
          <p:cNvSpPr/>
          <p:nvPr/>
        </p:nvSpPr>
        <p:spPr>
          <a:xfrm>
            <a:off x="547650" y="1563774"/>
            <a:ext cx="3933825" cy="2371725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2309" y="1778198"/>
            <a:ext cx="236220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732309" y="1955229"/>
            <a:ext cx="2362200" cy="3571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8"/>
              </a:lnSpc>
              <a:spcBef>
                <a:spcPts val="203"/>
              </a:spcBef>
              <a:buNone/>
            </a:pPr>
            <a:r>
              <a:rPr lang="en-US" sz="187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Logistic regression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3453817" y="1746349"/>
            <a:ext cx="842963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baseline_lr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731007" y="3233589"/>
            <a:ext cx="3567113" cy="519112"/>
          </a:xfrm>
          <a:prstGeom prst="roundRect">
            <a:avLst>
              <a:gd name="adj" fmla="val 3670"/>
            </a:avLst>
          </a:prstGeom>
          <a:solidFill>
            <a:srgbClr val="F4F6F9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PR-AUC</a:t>
            </a:r>
            <a:r>
              <a:rPr lang="en-US" sz="158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0.287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662488" y="1563774"/>
            <a:ext cx="3933825" cy="2371725"/>
          </a:xfrm>
          <a:prstGeom prst="roundRect">
            <a:avLst>
              <a:gd name="adj" fmla="val 1205"/>
            </a:avLst>
          </a:prstGeom>
          <a:solidFill>
            <a:srgbClr val="002C5F"/>
          </a:solidFill>
          <a:ln/>
        </p:spPr>
      </p:sp>
      <p:sp>
        <p:nvSpPr>
          <p:cNvPr id="11" name="Text 9"/>
          <p:cNvSpPr/>
          <p:nvPr/>
        </p:nvSpPr>
        <p:spPr>
          <a:xfrm>
            <a:off x="4845100" y="1778198"/>
            <a:ext cx="12287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PRODUCTION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4845100" y="1955229"/>
            <a:ext cx="1228725" cy="3571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8"/>
              </a:lnSpc>
              <a:spcBef>
                <a:spcPts val="203"/>
              </a:spcBef>
              <a:buNone/>
            </a:pPr>
            <a:r>
              <a:rPr lang="en-US" sz="187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LightGBM</a:t>
            </a:r>
            <a:endParaRPr lang="en-US" sz="1870" dirty="0"/>
          </a:p>
        </p:txBody>
      </p:sp>
      <p:sp>
        <p:nvSpPr>
          <p:cNvPr id="13" name="Text 11"/>
          <p:cNvSpPr/>
          <p:nvPr/>
        </p:nvSpPr>
        <p:spPr>
          <a:xfrm>
            <a:off x="7568692" y="1746349"/>
            <a:ext cx="842963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lightgbm_v1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4845844" y="3233589"/>
            <a:ext cx="3567113" cy="519112"/>
          </a:xfrm>
          <a:prstGeom prst="roundRect">
            <a:avLst>
              <a:gd name="adj" fmla="val 3670"/>
            </a:avLst>
          </a:prstGeom>
          <a:solidFill>
            <a:srgbClr val="FFFFFF">
              <a:alpha val="10196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PR-AUC</a:t>
            </a:r>
            <a:r>
              <a:rPr lang="en-US" sz="158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0.908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547688" y="4142817"/>
            <a:ext cx="8048625" cy="1643063"/>
          </a:xfrm>
          <a:prstGeom prst="roundRect">
            <a:avLst>
              <a:gd name="adj" fmla="val 1739"/>
            </a:avLst>
          </a:prstGeom>
          <a:solidFill>
            <a:srgbClr val="0B1320"/>
          </a:solidFill>
          <a:ln/>
        </p:spPr>
      </p:sp>
      <p:sp>
        <p:nvSpPr>
          <p:cNvPr id="16" name="Text 14"/>
          <p:cNvSpPr/>
          <p:nvPr/>
        </p:nvSpPr>
        <p:spPr>
          <a:xfrm>
            <a:off x="711994" y="4306230"/>
            <a:ext cx="77200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CONFIGS/DEFAULT.YAML · MODELS.FINAL (VERBATIM)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711994" y="4494275"/>
            <a:ext cx="7720012" cy="11287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7"/>
              </a:lnSpc>
              <a:spcBef>
                <a:spcPts val="405"/>
              </a:spcBef>
              <a:buNone/>
            </a:pPr>
            <a:r>
              <a:rPr lang="en-US" sz="79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final: name: lightgbm params: n_estimators: 400 learning_rate: 0.05 num_leaves: 63 max_depth: -1 min_child_samples: 50 subsample: 0.9 colsample_bytree: 0.9 reg_lambda: 1.0 class_weight: balanced random_state: 42 n_jobs: -1</a:t>
            </a:r>
            <a:endParaRPr lang="en-US" sz="790" dirty="0"/>
          </a:p>
        </p:txBody>
      </p:sp>
      <p:sp>
        <p:nvSpPr>
          <p:cNvPr id="18" name="Text 16"/>
          <p:cNvSpPr/>
          <p:nvPr/>
        </p:nvSpPr>
        <p:spPr>
          <a:xfrm>
            <a:off x="731007" y="2414215"/>
            <a:ext cx="3567113" cy="690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Standard-scaled features, class-weighted loss.</a:t>
            </a:r>
            <a:endParaRPr lang="en-US" sz="1080" dirty="0"/>
          </a:p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Honest floor — interpretable, no surprises.</a:t>
            </a:r>
            <a:endParaRPr lang="en-US" sz="1080" dirty="0"/>
          </a:p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Anchors every metric we report for LightGBM.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845844" y="2414215"/>
            <a:ext cx="3567113" cy="690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Handles mixed-scale features and interactions natively.</a:t>
            </a:r>
            <a:endParaRPr lang="en-US" sz="1080" dirty="0"/>
          </a:p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Class-weighted, robust on the 0.42% positive rate.</a:t>
            </a:r>
            <a:endParaRPr lang="en-US" sz="1080" dirty="0"/>
          </a:p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 train, fast inference, exportable joblib artefact.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5197"/>
            <a:ext cx="82296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21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· EVALUATION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57200" y="369466"/>
            <a:ext cx="7315200" cy="2476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66"/>
              </a:lnSpc>
              <a:spcBef>
                <a:spcPts val="203"/>
              </a:spcBef>
              <a:buNone/>
            </a:pPr>
            <a:r>
              <a:rPr lang="en-US" sz="1870" b="1" kern="0" spc="-47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Real plots from the repo pipeline, real dashboard numbers.</a:t>
            </a:r>
            <a:endParaRPr lang="en-US" sz="1870" dirty="0"/>
          </a:p>
        </p:txBody>
      </p:sp>
      <p:sp>
        <p:nvSpPr>
          <p:cNvPr id="5" name="Shape 3"/>
          <p:cNvSpPr/>
          <p:nvPr/>
        </p:nvSpPr>
        <p:spPr>
          <a:xfrm>
            <a:off x="456344" y="731862"/>
            <a:ext cx="2671763" cy="2438400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39688" y="814536"/>
            <a:ext cx="2505075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61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 CURVES · TEST SET</a:t>
            </a:r>
            <a:endParaRPr lang="en-US" sz="61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88" y="959755"/>
            <a:ext cx="2505075" cy="18811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9688" y="2859546"/>
            <a:ext cx="2505075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spcBef>
                <a:spcPts val="162"/>
              </a:spcBef>
              <a:buNone/>
            </a:pPr>
            <a:r>
              <a:rPr lang="en-US" sz="54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baseline_lr AP=0.287 · lightgbm_v1 AP=0.908</a:t>
            </a:r>
            <a:endParaRPr lang="en-US" sz="540" dirty="0"/>
          </a:p>
        </p:txBody>
      </p:sp>
      <p:sp>
        <p:nvSpPr>
          <p:cNvPr id="9" name="Shape 6"/>
          <p:cNvSpPr/>
          <p:nvPr/>
        </p:nvSpPr>
        <p:spPr>
          <a:xfrm>
            <a:off x="3236082" y="731862"/>
            <a:ext cx="2671763" cy="2438400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3319425" y="814536"/>
            <a:ext cx="2505075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61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ROC CURVES · TEST SET</a:t>
            </a:r>
            <a:endParaRPr lang="en-US" sz="61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425" y="959755"/>
            <a:ext cx="2505075" cy="18811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19425" y="2859546"/>
            <a:ext cx="2505075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spcBef>
                <a:spcPts val="162"/>
              </a:spcBef>
              <a:buNone/>
            </a:pPr>
            <a:r>
              <a:rPr lang="en-US" sz="54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baseline_lr AUC=0.963 · lightgbm_v1 AUC=0.999</a:t>
            </a:r>
            <a:endParaRPr lang="en-US" sz="540" dirty="0"/>
          </a:p>
        </p:txBody>
      </p:sp>
      <p:sp>
        <p:nvSpPr>
          <p:cNvPr id="13" name="Shape 9"/>
          <p:cNvSpPr/>
          <p:nvPr/>
        </p:nvSpPr>
        <p:spPr>
          <a:xfrm>
            <a:off x="6015856" y="731862"/>
            <a:ext cx="2671763" cy="2438400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6099200" y="814536"/>
            <a:ext cx="2505075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61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PROBABILITY HISTOGRAM · BASELINE_LR</a:t>
            </a:r>
            <a:endParaRPr lang="en-US" sz="61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200" y="960500"/>
            <a:ext cx="2505075" cy="20050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99200" y="2984860"/>
            <a:ext cx="2505075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spcBef>
                <a:spcPts val="162"/>
              </a:spcBef>
              <a:buNone/>
            </a:pPr>
            <a:r>
              <a:rPr lang="en-US" sz="54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artifacts/plots/prob_hist_baseline_lr.png</a:t>
            </a:r>
            <a:endParaRPr lang="en-US" sz="540" dirty="0"/>
          </a:p>
        </p:txBody>
      </p:sp>
      <p:sp>
        <p:nvSpPr>
          <p:cNvPr id="17" name="Shape 12"/>
          <p:cNvSpPr/>
          <p:nvPr/>
        </p:nvSpPr>
        <p:spPr>
          <a:xfrm>
            <a:off x="457944" y="3281288"/>
            <a:ext cx="5448300" cy="177165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/>
        </p:spPr>
      </p:sp>
      <p:sp>
        <p:nvSpPr>
          <p:cNvPr id="18" name="Text 13"/>
          <p:cNvSpPr/>
          <p:nvPr/>
        </p:nvSpPr>
        <p:spPr>
          <a:xfrm>
            <a:off x="567854" y="3394881"/>
            <a:ext cx="2243138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65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MODELS TRAINED ON YOUR DATA · DASHBOARD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4130092" y="3391123"/>
            <a:ext cx="1666875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threshold τ = 0.686 · F1-optimal</a:t>
            </a:r>
            <a:endParaRPr lang="en-US" sz="680" dirty="0"/>
          </a:p>
        </p:txBody>
      </p:sp>
      <p:sp>
        <p:nvSpPr>
          <p:cNvPr id="20" name="Text 15"/>
          <p:cNvSpPr/>
          <p:nvPr/>
        </p:nvSpPr>
        <p:spPr>
          <a:xfrm>
            <a:off x="567333" y="3573028"/>
            <a:ext cx="1447800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60" kern="0" spc="5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</a:t>
            </a:r>
            <a:endParaRPr lang="en-US" sz="560" dirty="0"/>
          </a:p>
        </p:txBody>
      </p:sp>
      <p:sp>
        <p:nvSpPr>
          <p:cNvPr id="21" name="Text 16"/>
          <p:cNvSpPr/>
          <p:nvPr/>
        </p:nvSpPr>
        <p:spPr>
          <a:xfrm>
            <a:off x="2080468" y="3573028"/>
            <a:ext cx="690562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42"/>
              </a:lnSpc>
              <a:buNone/>
            </a:pPr>
            <a:r>
              <a:rPr lang="en-US" sz="560" kern="0" spc="5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PR-AUC</a:t>
            </a:r>
            <a:endParaRPr lang="en-US" sz="560" dirty="0"/>
          </a:p>
        </p:txBody>
      </p:sp>
      <p:sp>
        <p:nvSpPr>
          <p:cNvPr id="22" name="Text 17"/>
          <p:cNvSpPr/>
          <p:nvPr/>
        </p:nvSpPr>
        <p:spPr>
          <a:xfrm>
            <a:off x="2836813" y="3573028"/>
            <a:ext cx="690562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42"/>
              </a:lnSpc>
              <a:buNone/>
            </a:pPr>
            <a:r>
              <a:rPr lang="en-US" sz="560" kern="0" spc="5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ROC-AUC</a:t>
            </a:r>
            <a:endParaRPr lang="en-US" sz="560" dirty="0"/>
          </a:p>
        </p:txBody>
      </p:sp>
      <p:sp>
        <p:nvSpPr>
          <p:cNvPr id="23" name="Text 18"/>
          <p:cNvSpPr/>
          <p:nvPr/>
        </p:nvSpPr>
        <p:spPr>
          <a:xfrm>
            <a:off x="3593157" y="3573028"/>
            <a:ext cx="690562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42"/>
              </a:lnSpc>
              <a:buNone/>
            </a:pPr>
            <a:r>
              <a:rPr lang="en-US" sz="560" kern="0" spc="5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PRECISION</a:t>
            </a:r>
            <a:endParaRPr lang="en-US" sz="560" dirty="0"/>
          </a:p>
        </p:txBody>
      </p:sp>
      <p:sp>
        <p:nvSpPr>
          <p:cNvPr id="24" name="Text 19"/>
          <p:cNvSpPr/>
          <p:nvPr/>
        </p:nvSpPr>
        <p:spPr>
          <a:xfrm>
            <a:off x="4349502" y="3573028"/>
            <a:ext cx="690562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42"/>
              </a:lnSpc>
              <a:buNone/>
            </a:pPr>
            <a:r>
              <a:rPr lang="en-US" sz="560" kern="0" spc="5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RECALL</a:t>
            </a:r>
            <a:endParaRPr lang="en-US" sz="560" dirty="0"/>
          </a:p>
        </p:txBody>
      </p:sp>
      <p:sp>
        <p:nvSpPr>
          <p:cNvPr id="25" name="Text 20"/>
          <p:cNvSpPr/>
          <p:nvPr/>
        </p:nvSpPr>
        <p:spPr>
          <a:xfrm>
            <a:off x="5105846" y="3573028"/>
            <a:ext cx="690562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42"/>
              </a:lnSpc>
              <a:buNone/>
            </a:pPr>
            <a:r>
              <a:rPr lang="en-US" sz="560" kern="0" spc="56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F1</a:t>
            </a:r>
            <a:endParaRPr lang="en-US" sz="560" dirty="0"/>
          </a:p>
        </p:txBody>
      </p:sp>
      <p:sp>
        <p:nvSpPr>
          <p:cNvPr id="26" name="Shape 21"/>
          <p:cNvSpPr/>
          <p:nvPr/>
        </p:nvSpPr>
        <p:spPr>
          <a:xfrm>
            <a:off x="567482" y="3704555"/>
            <a:ext cx="5229225" cy="4763"/>
          </a:xfrm>
          <a:prstGeom prst="rect">
            <a:avLst/>
          </a:prstGeom>
          <a:solidFill>
            <a:srgbClr val="D8DEE7"/>
          </a:solidFill>
          <a:ln/>
        </p:spPr>
      </p:sp>
      <p:sp>
        <p:nvSpPr>
          <p:cNvPr id="27" name="Text 22"/>
          <p:cNvSpPr/>
          <p:nvPr/>
        </p:nvSpPr>
        <p:spPr>
          <a:xfrm>
            <a:off x="567333" y="3734246"/>
            <a:ext cx="144780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baseline_lr</a:t>
            </a:r>
            <a:endParaRPr lang="en-US" sz="790" dirty="0"/>
          </a:p>
        </p:txBody>
      </p:sp>
      <p:sp>
        <p:nvSpPr>
          <p:cNvPr id="28" name="Text 23"/>
          <p:cNvSpPr/>
          <p:nvPr/>
        </p:nvSpPr>
        <p:spPr>
          <a:xfrm>
            <a:off x="567333" y="3884972"/>
            <a:ext cx="1447800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Logistic regression</a:t>
            </a:r>
            <a:endParaRPr lang="en-US" sz="540" dirty="0"/>
          </a:p>
        </p:txBody>
      </p:sp>
      <p:sp>
        <p:nvSpPr>
          <p:cNvPr id="29" name="Text 24"/>
          <p:cNvSpPr/>
          <p:nvPr/>
        </p:nvSpPr>
        <p:spPr>
          <a:xfrm>
            <a:off x="2080468" y="3778523"/>
            <a:ext cx="6905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0.287</a:t>
            </a:r>
            <a:endParaRPr lang="en-US" sz="860" dirty="0"/>
          </a:p>
        </p:txBody>
      </p:sp>
      <p:sp>
        <p:nvSpPr>
          <p:cNvPr id="30" name="Text 25"/>
          <p:cNvSpPr/>
          <p:nvPr/>
        </p:nvSpPr>
        <p:spPr>
          <a:xfrm>
            <a:off x="2836813" y="3778523"/>
            <a:ext cx="6905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0.963</a:t>
            </a:r>
            <a:endParaRPr lang="en-US" sz="860" dirty="0"/>
          </a:p>
        </p:txBody>
      </p:sp>
      <p:sp>
        <p:nvSpPr>
          <p:cNvPr id="31" name="Text 26"/>
          <p:cNvSpPr/>
          <p:nvPr/>
        </p:nvSpPr>
        <p:spPr>
          <a:xfrm>
            <a:off x="3593157" y="3778523"/>
            <a:ext cx="6905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0.221</a:t>
            </a:r>
            <a:endParaRPr lang="en-US" sz="860" dirty="0"/>
          </a:p>
        </p:txBody>
      </p:sp>
      <p:sp>
        <p:nvSpPr>
          <p:cNvPr id="32" name="Text 27"/>
          <p:cNvSpPr/>
          <p:nvPr/>
        </p:nvSpPr>
        <p:spPr>
          <a:xfrm>
            <a:off x="4349502" y="3778523"/>
            <a:ext cx="6905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0.618</a:t>
            </a:r>
            <a:endParaRPr lang="en-US" sz="860" dirty="0"/>
          </a:p>
        </p:txBody>
      </p:sp>
      <p:sp>
        <p:nvSpPr>
          <p:cNvPr id="33" name="Text 28"/>
          <p:cNvSpPr/>
          <p:nvPr/>
        </p:nvSpPr>
        <p:spPr>
          <a:xfrm>
            <a:off x="5105846" y="3778523"/>
            <a:ext cx="6905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0.325</a:t>
            </a:r>
            <a:endParaRPr lang="en-US" sz="860" dirty="0"/>
          </a:p>
        </p:txBody>
      </p:sp>
      <p:sp>
        <p:nvSpPr>
          <p:cNvPr id="34" name="Shape 29"/>
          <p:cNvSpPr/>
          <p:nvPr/>
        </p:nvSpPr>
        <p:spPr>
          <a:xfrm>
            <a:off x="567482" y="4014490"/>
            <a:ext cx="5229225" cy="4763"/>
          </a:xfrm>
          <a:prstGeom prst="rect">
            <a:avLst/>
          </a:prstGeom>
          <a:solidFill>
            <a:srgbClr val="D8DEE7"/>
          </a:solidFill>
          <a:ln/>
        </p:spPr>
      </p:sp>
      <p:sp>
        <p:nvSpPr>
          <p:cNvPr id="35" name="Text 30"/>
          <p:cNvSpPr/>
          <p:nvPr/>
        </p:nvSpPr>
        <p:spPr>
          <a:xfrm>
            <a:off x="567333" y="4044181"/>
            <a:ext cx="144780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b="1" dirty="0">
                <a:solidFill>
                  <a:srgbClr val="002C5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lightgbm_v1 ★</a:t>
            </a:r>
            <a:endParaRPr lang="en-US" sz="790" dirty="0"/>
          </a:p>
        </p:txBody>
      </p:sp>
      <p:sp>
        <p:nvSpPr>
          <p:cNvPr id="36" name="Text 31"/>
          <p:cNvSpPr/>
          <p:nvPr/>
        </p:nvSpPr>
        <p:spPr>
          <a:xfrm>
            <a:off x="567333" y="4194907"/>
            <a:ext cx="1447800" cy="104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shipped model</a:t>
            </a:r>
            <a:endParaRPr lang="en-US" sz="540" dirty="0"/>
          </a:p>
        </p:txBody>
      </p:sp>
      <p:sp>
        <p:nvSpPr>
          <p:cNvPr id="37" name="Text 32"/>
          <p:cNvSpPr/>
          <p:nvPr/>
        </p:nvSpPr>
        <p:spPr>
          <a:xfrm>
            <a:off x="2080468" y="4088457"/>
            <a:ext cx="6905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002C5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0.908</a:t>
            </a:r>
            <a:endParaRPr lang="en-US" sz="860" dirty="0"/>
          </a:p>
        </p:txBody>
      </p:sp>
      <p:sp>
        <p:nvSpPr>
          <p:cNvPr id="38" name="Text 33"/>
          <p:cNvSpPr/>
          <p:nvPr/>
        </p:nvSpPr>
        <p:spPr>
          <a:xfrm>
            <a:off x="2836813" y="4088457"/>
            <a:ext cx="6905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002C5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0.999</a:t>
            </a:r>
            <a:endParaRPr lang="en-US" sz="860" dirty="0"/>
          </a:p>
        </p:txBody>
      </p:sp>
      <p:sp>
        <p:nvSpPr>
          <p:cNvPr id="39" name="Text 34"/>
          <p:cNvSpPr/>
          <p:nvPr/>
        </p:nvSpPr>
        <p:spPr>
          <a:xfrm>
            <a:off x="3593157" y="4088457"/>
            <a:ext cx="6905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002C5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0.805</a:t>
            </a:r>
            <a:endParaRPr lang="en-US" sz="860" dirty="0"/>
          </a:p>
        </p:txBody>
      </p:sp>
      <p:sp>
        <p:nvSpPr>
          <p:cNvPr id="40" name="Text 35"/>
          <p:cNvSpPr/>
          <p:nvPr/>
        </p:nvSpPr>
        <p:spPr>
          <a:xfrm>
            <a:off x="4349502" y="4088457"/>
            <a:ext cx="6905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002C5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0.951</a:t>
            </a:r>
            <a:endParaRPr lang="en-US" sz="860" dirty="0"/>
          </a:p>
        </p:txBody>
      </p:sp>
      <p:sp>
        <p:nvSpPr>
          <p:cNvPr id="41" name="Text 36"/>
          <p:cNvSpPr/>
          <p:nvPr/>
        </p:nvSpPr>
        <p:spPr>
          <a:xfrm>
            <a:off x="5105846" y="4088457"/>
            <a:ext cx="6905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002C5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0.872</a:t>
            </a:r>
            <a:endParaRPr lang="en-US" sz="860" dirty="0"/>
          </a:p>
        </p:txBody>
      </p:sp>
      <p:sp>
        <p:nvSpPr>
          <p:cNvPr id="42" name="Text 37"/>
          <p:cNvSpPr/>
          <p:nvPr/>
        </p:nvSpPr>
        <p:spPr>
          <a:xfrm>
            <a:off x="567482" y="4351213"/>
            <a:ext cx="5229225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71"/>
              </a:lnSpc>
              <a:spcBef>
                <a:spcPts val="405"/>
              </a:spcBef>
              <a:buNone/>
            </a:pPr>
            <a:r>
              <a:rPr lang="en-US" sz="63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PR/ROC curves above are the actual PNGs from </a:t>
            </a:r>
            <a:r>
              <a:rPr lang="en-US" sz="63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pdm.evaluate</a:t>
            </a:r>
            <a:r>
              <a:rPr lang="en-US" sz="63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the held-out test split — training rows never enter these plots. Metrics row matches the live </a:t>
            </a:r>
            <a:r>
              <a:rPr lang="en-US" sz="63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PdM Digital Twin</a:t>
            </a:r>
            <a:r>
              <a:rPr lang="en-US" sz="63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dashboard exactly.</a:t>
            </a:r>
            <a:endParaRPr lang="en-US" sz="630" dirty="0"/>
          </a:p>
        </p:txBody>
      </p:sp>
      <p:sp>
        <p:nvSpPr>
          <p:cNvPr id="43" name="Shape 38"/>
          <p:cNvSpPr/>
          <p:nvPr/>
        </p:nvSpPr>
        <p:spPr>
          <a:xfrm>
            <a:off x="6015856" y="3279428"/>
            <a:ext cx="2671763" cy="566738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6127775" y="3372073"/>
            <a:ext cx="246697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58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PR-AUC LEADS</a:t>
            </a:r>
            <a:endParaRPr lang="en-US" sz="580" dirty="0"/>
          </a:p>
        </p:txBody>
      </p:sp>
      <p:sp>
        <p:nvSpPr>
          <p:cNvPr id="45" name="Text 40"/>
          <p:cNvSpPr/>
          <p:nvPr/>
        </p:nvSpPr>
        <p:spPr>
          <a:xfrm>
            <a:off x="6127775" y="3501703"/>
            <a:ext cx="2466975" cy="2524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16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Positive rate ≈ 1.8% at row level — ROC saturates near 1.0, PR doesn't. PR-AUC </a:t>
            </a:r>
            <a:r>
              <a:rPr lang="en-US" sz="72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0.287 → 0.908</a:t>
            </a: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the honest gain.</a:t>
            </a:r>
            <a:endParaRPr lang="en-US" sz="720" dirty="0"/>
          </a:p>
        </p:txBody>
      </p:sp>
      <p:sp>
        <p:nvSpPr>
          <p:cNvPr id="46" name="Shape 41"/>
          <p:cNvSpPr/>
          <p:nvPr/>
        </p:nvSpPr>
        <p:spPr>
          <a:xfrm>
            <a:off x="6015856" y="3890070"/>
            <a:ext cx="2671763" cy="566738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/>
        </p:spPr>
      </p:sp>
      <p:sp>
        <p:nvSpPr>
          <p:cNvPr id="47" name="Text 42"/>
          <p:cNvSpPr/>
          <p:nvPr/>
        </p:nvSpPr>
        <p:spPr>
          <a:xfrm>
            <a:off x="6127775" y="3982715"/>
            <a:ext cx="246697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58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OPERATIONAL HEADLINE</a:t>
            </a:r>
            <a:endParaRPr lang="en-US" sz="580" dirty="0"/>
          </a:p>
        </p:txBody>
      </p:sp>
      <p:sp>
        <p:nvSpPr>
          <p:cNvPr id="48" name="Text 43"/>
          <p:cNvSpPr/>
          <p:nvPr/>
        </p:nvSpPr>
        <p:spPr>
          <a:xfrm>
            <a:off x="6127775" y="4112344"/>
            <a:ext cx="2466975" cy="2524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162"/>
              </a:spcBef>
              <a:buNone/>
            </a:pP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F1 jumps </a:t>
            </a:r>
            <a:r>
              <a:rPr lang="en-US" sz="720" dirty="0">
                <a:solidFill>
                  <a:srgbClr val="0B13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0.325 → 0.872</a:t>
            </a:r>
            <a:r>
              <a:rPr lang="en-US" sz="72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at τ=0.686 — precision 0.805 with recall 0.951.</a:t>
            </a:r>
            <a:endParaRPr lang="en-US" sz="720" dirty="0"/>
          </a:p>
        </p:txBody>
      </p:sp>
      <p:sp>
        <p:nvSpPr>
          <p:cNvPr id="49" name="Shape 44"/>
          <p:cNvSpPr/>
          <p:nvPr/>
        </p:nvSpPr>
        <p:spPr>
          <a:xfrm>
            <a:off x="6015856" y="4501530"/>
            <a:ext cx="2671763" cy="552450"/>
          </a:xfrm>
          <a:prstGeom prst="roundRect">
            <a:avLst>
              <a:gd name="adj" fmla="val 5172"/>
            </a:avLst>
          </a:prstGeom>
          <a:solidFill>
            <a:srgbClr val="002C5F"/>
          </a:solidFill>
          <a:ln/>
        </p:spPr>
      </p:sp>
      <p:sp>
        <p:nvSpPr>
          <p:cNvPr id="50" name="Text 45"/>
          <p:cNvSpPr/>
          <p:nvPr/>
        </p:nvSpPr>
        <p:spPr>
          <a:xfrm>
            <a:off x="6108725" y="4593357"/>
            <a:ext cx="248602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5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THRESHOLD Τ = 0.686</a:t>
            </a:r>
            <a:endParaRPr lang="en-US" sz="580" dirty="0"/>
          </a:p>
        </p:txBody>
      </p:sp>
      <p:sp>
        <p:nvSpPr>
          <p:cNvPr id="51" name="Text 46"/>
          <p:cNvSpPr/>
          <p:nvPr/>
        </p:nvSpPr>
        <p:spPr>
          <a:xfrm>
            <a:off x="6108725" y="4723805"/>
            <a:ext cx="2486025" cy="238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40"/>
              </a:lnSpc>
              <a:spcBef>
                <a:spcPts val="162"/>
              </a:spcBef>
              <a:buNone/>
            </a:pPr>
            <a:r>
              <a:rPr lang="en-US" sz="68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F1-max on Oct–Dec hold-out. Written to </a:t>
            </a:r>
            <a:r>
              <a:rPr lang="en-US" sz="68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artifacts/threshold.json</a:t>
            </a:r>
            <a:r>
              <a:rPr lang="en-US" sz="68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the API at startup.</a:t>
            </a:r>
            <a:endParaRPr lang="en-US" sz="680" dirty="0"/>
          </a:p>
        </p:txBody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5856" y="3279428"/>
            <a:ext cx="2671763" cy="566738"/>
          </a:xfrm>
          <a:prstGeom prst="rect">
            <a:avLst/>
          </a:prstGeom>
        </p:spPr>
      </p:pic>
      <p:pic>
        <p:nvPicPr>
          <p:cNvPr id="5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5856" y="3890070"/>
            <a:ext cx="2671763" cy="5667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5897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· LIKELY COMPONENT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576486"/>
            <a:ext cx="6858000" cy="7286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73"/>
              </a:lnSpc>
              <a:spcBef>
                <a:spcPts val="405"/>
              </a:spcBef>
              <a:buNone/>
            </a:pPr>
            <a:r>
              <a:rPr lang="en-US" sz="2740" b="1" kern="0" spc="-68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Rule-based attribution on top of one binary head.</a:t>
            </a:r>
            <a:endParaRPr lang="en-US" sz="2740" dirty="0"/>
          </a:p>
        </p:txBody>
      </p:sp>
      <p:sp>
        <p:nvSpPr>
          <p:cNvPr id="5" name="Shape 3"/>
          <p:cNvSpPr/>
          <p:nvPr/>
        </p:nvSpPr>
        <p:spPr>
          <a:xfrm>
            <a:off x="548580" y="1562026"/>
            <a:ext cx="2590800" cy="2195513"/>
          </a:xfrm>
          <a:prstGeom prst="roundRect">
            <a:avLst>
              <a:gd name="adj" fmla="val 130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12887" y="1726816"/>
            <a:ext cx="226218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OPTION A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12887" y="1906339"/>
            <a:ext cx="2262187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buNone/>
            </a:pPr>
            <a:r>
              <a:rPr lang="en-US" sz="158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Multi-class head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712887" y="2268438"/>
            <a:ext cx="2262187" cy="7048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486"/>
              </a:spcBef>
              <a:buNone/>
            </a:pP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model per component or a 5-class softmax. Doubles training cost on a dataset where each class is already rare.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712887" y="3074640"/>
            <a:ext cx="2262187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spcBef>
                <a:spcPts val="810"/>
              </a:spcBef>
              <a:buNone/>
            </a:pPr>
            <a:r>
              <a:rPr lang="en-US" sz="8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Rejected · data too thin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3276563" y="1562026"/>
            <a:ext cx="2590800" cy="2195513"/>
          </a:xfrm>
          <a:prstGeom prst="roundRect">
            <a:avLst>
              <a:gd name="adj" fmla="val 1302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440869" y="1726816"/>
            <a:ext cx="226218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OPTION B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440869" y="1906339"/>
            <a:ext cx="2262187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buNone/>
            </a:pPr>
            <a:r>
              <a:rPr lang="en-US" sz="158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Post-hoc attribution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3440869" y="2268438"/>
            <a:ext cx="2262187" cy="7048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486"/>
              </a:spcBef>
              <a:buNone/>
            </a:pP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 per prediction, top component by signed contribution. Strong, but explanations get noisy on a single hourly row.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3440869" y="3074640"/>
            <a:ext cx="2262187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spcBef>
                <a:spcPts val="810"/>
              </a:spcBef>
              <a:buNone/>
            </a:pPr>
            <a:r>
              <a:rPr lang="en-US" sz="86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Future work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004582" y="1562026"/>
            <a:ext cx="2590800" cy="2195513"/>
          </a:xfrm>
          <a:prstGeom prst="roundRect">
            <a:avLst>
              <a:gd name="adj" fmla="val 1302"/>
            </a:avLst>
          </a:prstGeom>
          <a:solidFill>
            <a:srgbClr val="002C5F"/>
          </a:solidFill>
          <a:ln/>
        </p:spPr>
      </p:sp>
      <p:sp>
        <p:nvSpPr>
          <p:cNvPr id="16" name="Text 14"/>
          <p:cNvSpPr/>
          <p:nvPr/>
        </p:nvSpPr>
        <p:spPr>
          <a:xfrm>
            <a:off x="6168889" y="1726816"/>
            <a:ext cx="226218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OPTION C · SHIPPED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6168889" y="1906339"/>
            <a:ext cx="2262187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buNone/>
            </a:pPr>
            <a:r>
              <a:rPr lang="en-US" sz="158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Rule-based ranking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6168889" y="2268215"/>
            <a:ext cx="2262187" cy="10572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486"/>
              </a:spcBef>
              <a:buNone/>
            </a:pPr>
            <a:r>
              <a:rPr lang="en-US" sz="101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risk is elevated, rank components by </a:t>
            </a:r>
            <a:r>
              <a:rPr lang="en-US" sz="101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hours_since_maint_compX</a:t>
            </a:r>
            <a:r>
              <a:rPr lang="en-US" sz="101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against their typical service interval. Cheap, defensible, easy for an operator to read.</a:t>
            </a:r>
            <a:endParaRPr lang="en-US" sz="1010" dirty="0"/>
          </a:p>
        </p:txBody>
      </p:sp>
      <p:sp>
        <p:nvSpPr>
          <p:cNvPr id="19" name="Text 17"/>
          <p:cNvSpPr/>
          <p:nvPr/>
        </p:nvSpPr>
        <p:spPr>
          <a:xfrm>
            <a:off x="6168889" y="3426619"/>
            <a:ext cx="2262187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spcBef>
                <a:spcPts val="810"/>
              </a:spcBef>
              <a:buNone/>
            </a:pPr>
            <a:r>
              <a:rPr lang="en-US" sz="86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Defensible · deterministic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47688" y="3961805"/>
            <a:ext cx="8048625" cy="1638300"/>
          </a:xfrm>
          <a:prstGeom prst="roundRect">
            <a:avLst>
              <a:gd name="adj" fmla="val 1744"/>
            </a:avLst>
          </a:prstGeom>
          <a:solidFill>
            <a:srgbClr val="0B1320"/>
          </a:solidFill>
          <a:ln/>
        </p:spPr>
      </p:sp>
      <p:sp>
        <p:nvSpPr>
          <p:cNvPr id="21" name="Text 19"/>
          <p:cNvSpPr/>
          <p:nvPr/>
        </p:nvSpPr>
        <p:spPr>
          <a:xfrm>
            <a:off x="711994" y="4126520"/>
            <a:ext cx="77200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TWIN.PY · LIKELY_COMPONENT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711994" y="4315644"/>
            <a:ext cx="7720012" cy="11191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69"/>
              </a:lnSpc>
              <a:spcBef>
                <a:spcPts val="405"/>
              </a:spcBef>
              <a:buNone/>
            </a:pPr>
            <a:r>
              <a:rPr lang="en-US" sz="86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overdue = { c: hours_since_maint[c] / typical_interval_hours[c] for c in ("comp1","comp2","comp3","comp4") } likely_component = max(overdue, key=overdue.get) confidence = "high" if overdue[likely_component] &gt; 1.2 else "medium"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33226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· DIGITAL TWIN OUTPUT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550664"/>
            <a:ext cx="7315200" cy="6905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22"/>
              </a:lnSpc>
              <a:spcBef>
                <a:spcPts val="405"/>
              </a:spcBef>
              <a:buNone/>
            </a:pPr>
            <a:r>
              <a:rPr lang="en-US" sz="2590" b="1" kern="0" spc="-65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JSON object per machine, per timestamp.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547650" y="1446647"/>
            <a:ext cx="4638675" cy="3724275"/>
          </a:xfrm>
          <a:prstGeom prst="roundRect">
            <a:avLst>
              <a:gd name="adj" fmla="val 767"/>
            </a:avLst>
          </a:prstGeom>
          <a:solidFill>
            <a:srgbClr val="0B1320"/>
          </a:solidFill>
          <a:ln/>
        </p:spPr>
      </p:sp>
      <p:sp>
        <p:nvSpPr>
          <p:cNvPr id="6" name="Text 4"/>
          <p:cNvSpPr/>
          <p:nvPr/>
        </p:nvSpPr>
        <p:spPr>
          <a:xfrm>
            <a:off x="730262" y="1636477"/>
            <a:ext cx="14097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 /PREDICT · 200 OK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3011909" y="1629370"/>
            <a:ext cx="19907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machineID 1 · 2015-12-15T20:00:00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731007" y="1857003"/>
            <a:ext cx="4271963" cy="27051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38"/>
              </a:lnSpc>
              <a:spcBef>
                <a:spcPts val="607"/>
              </a:spcBef>
              <a:buNone/>
            </a:pPr>
            <a:r>
              <a:rPr lang="en-US" sz="94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 "machineID": 1, "timestamp": "2015-12-15T20:00:00", "failure_risk_24h": 0.999, "health_state": "critical", "likely_component": "comp1", "confidence": "high", "main_evidence": [ "no maintenance on comp1 for 74.6 d", "volt_std_24h: 22.4" ], "prescription": "urgent_maintenance" }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5323024" y="1446833"/>
            <a:ext cx="3271838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51611" y="1574788"/>
            <a:ext cx="301466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FAILURE_RISK_24H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451611" y="1732843"/>
            <a:ext cx="3014663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Calibrated probability from </a:t>
            </a:r>
            <a:r>
              <a:rPr lang="en-US" sz="101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predict_proba</a:t>
            </a: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5323024" y="2098067"/>
            <a:ext cx="3271838" cy="766763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51611" y="2226134"/>
            <a:ext cx="301466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HEALTH_STATE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451611" y="2384078"/>
            <a:ext cx="3014663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Bucketed risk: </a:t>
            </a:r>
            <a:r>
              <a:rPr lang="en-US" sz="101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healthy · watch · degraded · critical</a:t>
            </a: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5323024" y="2925514"/>
            <a:ext cx="3271838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51611" y="3053469"/>
            <a:ext cx="301466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LIKELY_COMPONENT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451611" y="3211525"/>
            <a:ext cx="3014663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Top-ranked of </a:t>
            </a:r>
            <a:r>
              <a:rPr lang="en-US" sz="101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comp1..comp4</a:t>
            </a: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5323024" y="3576749"/>
            <a:ext cx="3271838" cy="766763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51611" y="3704816"/>
            <a:ext cx="301466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MAIN_EVIDENCE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451611" y="3862760"/>
            <a:ext cx="3014663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human-readable strings — the features driving the call.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5323024" y="4404085"/>
            <a:ext cx="3271838" cy="766763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70661" y="4532151"/>
            <a:ext cx="29956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PRESCRIPTION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470661" y="4690095"/>
            <a:ext cx="2995613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of </a:t>
            </a:r>
            <a:r>
              <a:rPr lang="en-US" sz="101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continue · monitor · inspect · urgent_maintenance</a:t>
            </a:r>
            <a:r>
              <a:rPr lang="en-US" sz="101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01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3024" y="4404085"/>
            <a:ext cx="3271838" cy="7667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5897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· HEALTH &amp; PRESCRIPTION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575035"/>
            <a:ext cx="7315200" cy="3476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22"/>
              </a:lnSpc>
              <a:spcBef>
                <a:spcPts val="405"/>
              </a:spcBef>
              <a:buNone/>
            </a:pPr>
            <a:r>
              <a:rPr lang="en-US" sz="2590" b="1" kern="0" spc="-65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Risk becomes state. State becomes action.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548878" y="1230623"/>
            <a:ext cx="1928813" cy="146685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94134" y="1399915"/>
            <a:ext cx="16383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 &lt; 0.10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694134" y="1589224"/>
            <a:ext cx="1638300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92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healthy</a:t>
            </a:r>
            <a:endParaRPr lang="en-US" sz="1730" dirty="0"/>
          </a:p>
        </p:txBody>
      </p:sp>
      <p:sp>
        <p:nvSpPr>
          <p:cNvPr id="8" name="Text 6"/>
          <p:cNvSpPr/>
          <p:nvPr/>
        </p:nvSpPr>
        <p:spPr>
          <a:xfrm>
            <a:off x="694134" y="1996194"/>
            <a:ext cx="16383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spcBef>
                <a:spcPts val="607"/>
              </a:spcBef>
              <a:buNone/>
            </a:pPr>
            <a:r>
              <a:rPr lang="en-US" sz="94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continue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694134" y="2223864"/>
            <a:ext cx="1638300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action. Routine telemetry only.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588009" y="1230623"/>
            <a:ext cx="1928813" cy="146685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733266" y="1399915"/>
            <a:ext cx="16383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0.10 – 0.30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733266" y="1589224"/>
            <a:ext cx="1638300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92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watch</a:t>
            </a:r>
            <a:endParaRPr lang="en-US" sz="1730" dirty="0"/>
          </a:p>
        </p:txBody>
      </p:sp>
      <p:sp>
        <p:nvSpPr>
          <p:cNvPr id="13" name="Text 11"/>
          <p:cNvSpPr/>
          <p:nvPr/>
        </p:nvSpPr>
        <p:spPr>
          <a:xfrm>
            <a:off x="2733266" y="1996194"/>
            <a:ext cx="16383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spcBef>
                <a:spcPts val="607"/>
              </a:spcBef>
              <a:buNone/>
            </a:pPr>
            <a:r>
              <a:rPr lang="en-US" sz="94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monitor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2733266" y="2223864"/>
            <a:ext cx="1638300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Increase polling cadence; flag to shift lead.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627141" y="1230623"/>
            <a:ext cx="1928813" cy="146685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72397" y="1399915"/>
            <a:ext cx="16383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0.30 – 0.60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772397" y="1589224"/>
            <a:ext cx="1638300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92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degraded</a:t>
            </a:r>
            <a:endParaRPr lang="en-US" sz="1730" dirty="0"/>
          </a:p>
        </p:txBody>
      </p:sp>
      <p:sp>
        <p:nvSpPr>
          <p:cNvPr id="18" name="Text 16"/>
          <p:cNvSpPr/>
          <p:nvPr/>
        </p:nvSpPr>
        <p:spPr>
          <a:xfrm>
            <a:off x="4772397" y="1996194"/>
            <a:ext cx="16383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spcBef>
                <a:spcPts val="607"/>
              </a:spcBef>
              <a:buNone/>
            </a:pPr>
            <a:r>
              <a:rPr lang="en-US" sz="94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inspect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4772397" y="2223864"/>
            <a:ext cx="1638300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Bench inspection of the likely component at next handover.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666272" y="1230623"/>
            <a:ext cx="1928813" cy="1466850"/>
          </a:xfrm>
          <a:prstGeom prst="roundRect">
            <a:avLst>
              <a:gd name="adj" fmla="val 1948"/>
            </a:avLst>
          </a:prstGeom>
          <a:solidFill>
            <a:srgbClr val="002C5F"/>
          </a:solidFill>
          <a:ln/>
        </p:spPr>
      </p:sp>
      <p:sp>
        <p:nvSpPr>
          <p:cNvPr id="21" name="Text 19"/>
          <p:cNvSpPr/>
          <p:nvPr/>
        </p:nvSpPr>
        <p:spPr>
          <a:xfrm>
            <a:off x="6811528" y="1376102"/>
            <a:ext cx="16383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 0.60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6811528" y="1565411"/>
            <a:ext cx="1638300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92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critical</a:t>
            </a:r>
            <a:endParaRPr lang="en-US" sz="1730" dirty="0"/>
          </a:p>
        </p:txBody>
      </p:sp>
      <p:sp>
        <p:nvSpPr>
          <p:cNvPr id="23" name="Text 21"/>
          <p:cNvSpPr/>
          <p:nvPr/>
        </p:nvSpPr>
        <p:spPr>
          <a:xfrm>
            <a:off x="6811528" y="1972382"/>
            <a:ext cx="16383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spcBef>
                <a:spcPts val="607"/>
              </a:spcBef>
              <a:buNone/>
            </a:pPr>
            <a:r>
              <a:rPr lang="en-US" sz="94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urgent_maintenance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6811528" y="2200052"/>
            <a:ext cx="1638300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Pull from service window; replace the likely component.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547688" y="2903116"/>
            <a:ext cx="8048625" cy="2266950"/>
          </a:xfrm>
          <a:prstGeom prst="roundRect">
            <a:avLst>
              <a:gd name="adj" fmla="val 1261"/>
            </a:avLst>
          </a:prstGeom>
          <a:solidFill>
            <a:srgbClr val="0B1320"/>
          </a:solidFill>
          <a:ln/>
        </p:spPr>
      </p:sp>
      <p:sp>
        <p:nvSpPr>
          <p:cNvPr id="26" name="Text 24"/>
          <p:cNvSpPr/>
          <p:nvPr/>
        </p:nvSpPr>
        <p:spPr>
          <a:xfrm>
            <a:off x="695325" y="3049302"/>
            <a:ext cx="775335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SRC/PDM/HEALTH.PY · CLASSIFY_HEALTH + PRESCRIBE (VERBATIM)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695325" y="3237905"/>
            <a:ext cx="7753350" cy="17859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2"/>
              </a:lnSpc>
              <a:spcBef>
                <a:spcPts val="405"/>
              </a:spcBef>
              <a:buNone/>
            </a:pPr>
            <a:r>
              <a:rPr lang="en-US" sz="76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classify_health(prob, cfg): t = cfg["health_state"]["thresholds"] if prob &lt; t["healthy_max"]: return "healthy" if prob &lt; t["watch_max"]: return "watch" if prob &lt; t["degraded_max"]: return "degraded" return "critical" def prescribe(state, confidence): if state == "healthy": return "continue" if state == "watch": return "monitor" if state == "degraded": return "inspect" return "urgent_maintenance" if confidence == "high" else "schedule_maintenance"</a:t>
            </a:r>
            <a:endParaRPr lang="en-US" sz="76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878" y="1230623"/>
            <a:ext cx="1928813" cy="1466850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8009" y="1230623"/>
            <a:ext cx="1928813" cy="1466850"/>
          </a:xfrm>
          <a:prstGeom prst="rect">
            <a:avLst/>
          </a:prstGeom>
        </p:spPr>
      </p:pic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7141" y="1230623"/>
            <a:ext cx="1928813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33226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· MLOPS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549287"/>
            <a:ext cx="7315200" cy="3476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22"/>
              </a:lnSpc>
              <a:spcBef>
                <a:spcPts val="405"/>
              </a:spcBef>
              <a:buNone/>
            </a:pPr>
            <a:r>
              <a:rPr lang="en-US" sz="2590" b="1" kern="0" spc="-65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command from CSV to container.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547650" y="1127336"/>
            <a:ext cx="4638675" cy="4371975"/>
          </a:xfrm>
          <a:prstGeom prst="roundRect">
            <a:avLst>
              <a:gd name="adj" fmla="val 654"/>
            </a:avLst>
          </a:prstGeom>
          <a:solidFill>
            <a:srgbClr val="0B1320"/>
          </a:solidFill>
          <a:ln/>
        </p:spPr>
      </p:sp>
      <p:sp>
        <p:nvSpPr>
          <p:cNvPr id="6" name="Text 4"/>
          <p:cNvSpPr/>
          <p:nvPr/>
        </p:nvSpPr>
        <p:spPr>
          <a:xfrm>
            <a:off x="731007" y="1309725"/>
            <a:ext cx="427196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MAKEFILE · TARGETS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31007" y="1497881"/>
            <a:ext cx="4271963" cy="18288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98"/>
              </a:lnSpc>
              <a:spcBef>
                <a:spcPts val="405"/>
              </a:spcBef>
              <a:buNone/>
            </a:pPr>
            <a:r>
              <a:rPr lang="en-US" sz="86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make install # uv-resolved env, pinned deps make validate # schema + range + join checks make features # build the 45-feature frame make train # baseline_lr + lightgbm_v1, logged to MLflow make evaluate # PR / ROC / confusion / threshold make drift # data-quality + drift report make predict # CLI inference -&gt; twin JSON make api # uvicorn api.server:app make docker # multi-stage build, model baked in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323024" y="1127931"/>
            <a:ext cx="3271838" cy="823913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51611" y="1254882"/>
            <a:ext cx="301466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TRACKING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451611" y="1413942"/>
            <a:ext cx="3014663" cy="4095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162"/>
              </a:spcBef>
              <a:buNone/>
            </a:pP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MLflow at </a:t>
            </a:r>
            <a:r>
              <a:rPr lang="en-US" sz="108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./mlruns</a:t>
            </a: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params, metrics, model artefact per run.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323024" y="2014649"/>
            <a:ext cx="3271838" cy="823913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51611" y="2141600"/>
            <a:ext cx="301466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ARTEFACTS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451611" y="2300660"/>
            <a:ext cx="3014663" cy="4095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model.joblib</a:t>
            </a: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threshold.json, metrics.json, PR / ROC plots — written to </a:t>
            </a:r>
            <a:r>
              <a:rPr lang="en-US" sz="108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artifacts/</a:t>
            </a: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323024" y="2901367"/>
            <a:ext cx="3271838" cy="823913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51611" y="3028317"/>
            <a:ext cx="301466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451611" y="3187378"/>
            <a:ext cx="3014663" cy="4095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162"/>
              </a:spcBef>
              <a:buNone/>
            </a:pP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pytest suite — schema, feature math, and a fixture-based test of the labelling function.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323024" y="3788085"/>
            <a:ext cx="3271838" cy="823913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51611" y="3915035"/>
            <a:ext cx="301466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CONTAINER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451611" y="4074096"/>
            <a:ext cx="3014663" cy="4095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162"/>
              </a:spcBef>
              <a:buNone/>
            </a:pP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Multi-stage Dockerfile runs the full pipeline at build → ships a ready-to-serve image.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323024" y="4674803"/>
            <a:ext cx="3271838" cy="823913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70661" y="4801753"/>
            <a:ext cx="29956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DRIFT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5470661" y="4960813"/>
            <a:ext cx="2995613" cy="4095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162"/>
              </a:spcBef>
              <a:buNone/>
            </a:pP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Per-feature PSI + null-rate report between training window and most recent batch.</a:t>
            </a:r>
            <a:endParaRPr lang="en-US" sz="108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3024" y="4674803"/>
            <a:ext cx="3271838" cy="8239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5897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· LIVE DEMO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575072"/>
            <a:ext cx="6858000" cy="3667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73"/>
              </a:lnSpc>
              <a:spcBef>
                <a:spcPts val="405"/>
              </a:spcBef>
              <a:buNone/>
            </a:pPr>
            <a:r>
              <a:rPr lang="en-US" sz="2740" b="1" kern="0" spc="-68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Raw CSV in, prescription out.</a:t>
            </a:r>
            <a:endParaRPr lang="en-US" sz="2740" dirty="0"/>
          </a:p>
        </p:txBody>
      </p:sp>
      <p:sp>
        <p:nvSpPr>
          <p:cNvPr id="5" name="Shape 3"/>
          <p:cNvSpPr/>
          <p:nvPr/>
        </p:nvSpPr>
        <p:spPr>
          <a:xfrm>
            <a:off x="547539" y="1197099"/>
            <a:ext cx="1538287" cy="809625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76126" y="1325500"/>
            <a:ext cx="12811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1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676126" y="1484114"/>
            <a:ext cx="1281112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162"/>
              </a:spcBef>
              <a:buNone/>
            </a:pP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Upload CSVs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76126" y="1720416"/>
            <a:ext cx="1281112" cy="1571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2"/>
              </a:lnSpc>
              <a:spcBef>
                <a:spcPts val="243"/>
              </a:spcBef>
              <a:buNone/>
            </a:pPr>
            <a:r>
              <a:rPr lang="en-US" sz="83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 /upload-and-run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175160" y="1197099"/>
            <a:ext cx="1538287" cy="809625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303748" y="1325500"/>
            <a:ext cx="12811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2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2303748" y="1484114"/>
            <a:ext cx="1281112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162"/>
              </a:spcBef>
              <a:buNone/>
            </a:pP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303748" y="1720416"/>
            <a:ext cx="1281112" cy="1571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2"/>
              </a:lnSpc>
              <a:spcBef>
                <a:spcPts val="243"/>
              </a:spcBef>
              <a:buNone/>
            </a:pPr>
            <a:r>
              <a:rPr lang="en-US" sz="83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make train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802819" y="1197099"/>
            <a:ext cx="1538287" cy="809625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407" y="1325500"/>
            <a:ext cx="12811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3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931407" y="1484114"/>
            <a:ext cx="1281112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162"/>
              </a:spcBef>
              <a:buNone/>
            </a:pP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931407" y="1720416"/>
            <a:ext cx="1281112" cy="1571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2"/>
              </a:lnSpc>
              <a:spcBef>
                <a:spcPts val="243"/>
              </a:spcBef>
              <a:buNone/>
            </a:pPr>
            <a:r>
              <a:rPr lang="en-US" sz="83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make evaluate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430478" y="1197099"/>
            <a:ext cx="1538287" cy="809625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559065" y="1325500"/>
            <a:ext cx="12811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4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559065" y="1484114"/>
            <a:ext cx="1281112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162"/>
              </a:spcBef>
              <a:buNone/>
            </a:pPr>
            <a:r>
              <a:rPr lang="en-US" sz="1080" dirty="0">
                <a:solidFill>
                  <a:srgbClr val="0B1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559065" y="1720416"/>
            <a:ext cx="1281112" cy="1571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2"/>
              </a:lnSpc>
              <a:spcBef>
                <a:spcPts val="243"/>
              </a:spcBef>
              <a:buNone/>
            </a:pPr>
            <a:r>
              <a:rPr lang="en-US" sz="83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make predict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058137" y="1197099"/>
            <a:ext cx="1538287" cy="809625"/>
          </a:xfrm>
          <a:prstGeom prst="roundRect">
            <a:avLst>
              <a:gd name="adj" fmla="val 3529"/>
            </a:avLst>
          </a:prstGeom>
          <a:solidFill>
            <a:srgbClr val="002C5F"/>
          </a:solidFill>
          <a:ln/>
        </p:spPr>
      </p:sp>
      <p:sp>
        <p:nvSpPr>
          <p:cNvPr id="22" name="Text 20"/>
          <p:cNvSpPr/>
          <p:nvPr/>
        </p:nvSpPr>
        <p:spPr>
          <a:xfrm>
            <a:off x="7186724" y="1325500"/>
            <a:ext cx="12811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5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7186724" y="1484114"/>
            <a:ext cx="1281112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162"/>
              </a:spcBef>
              <a:buNone/>
            </a:pPr>
            <a:r>
              <a:rPr lang="en-US" sz="108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Twin JSON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186724" y="1720416"/>
            <a:ext cx="1281112" cy="1571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2"/>
              </a:lnSpc>
              <a:spcBef>
                <a:spcPts val="243"/>
              </a:spcBef>
              <a:buNone/>
            </a:pPr>
            <a:r>
              <a:rPr lang="en-US" sz="830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/predict response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47688" y="2263899"/>
            <a:ext cx="8048625" cy="2176462"/>
          </a:xfrm>
          <a:prstGeom prst="roundRect">
            <a:avLst>
              <a:gd name="adj" fmla="val 1313"/>
            </a:avLst>
          </a:prstGeom>
          <a:solidFill>
            <a:srgbClr val="0B132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044" y="2445358"/>
            <a:ext cx="76819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TERMINAL · PRESENTER SCRIPT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731044" y="2634407"/>
            <a:ext cx="7681912" cy="16240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98"/>
              </a:lnSpc>
              <a:spcBef>
                <a:spcPts val="405"/>
              </a:spcBef>
              <a:buNone/>
            </a:pPr>
            <a:r>
              <a:rPr lang="en-US" sz="86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make install &amp;&amp; make validate $ make train # ~30s on laptop, logs to ./mlruns $ make evaluate # writes artifacts/metrics.json + plots $ curl -X POST localhost:8000/predict \ -H "content-type: application/json" \ -d '{"machineID": 1, "timestamp": "2015-12-15T20:00:00"}' { "failure_risk_24h": 0.999, "health_state": "critical", "likely_component": "comp1", "prescription": "urgent_maintenance", ... }</a:t>
            </a:r>
            <a:endParaRPr lang="en-US" sz="8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5897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· LIMITATIONS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575072"/>
            <a:ext cx="6858000" cy="3667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73"/>
              </a:lnSpc>
              <a:spcBef>
                <a:spcPts val="405"/>
              </a:spcBef>
              <a:buNone/>
            </a:pPr>
            <a:r>
              <a:rPr lang="en-US" sz="2740" b="1" kern="0" spc="-68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I would push back on first.</a:t>
            </a:r>
            <a:endParaRPr lang="en-US" sz="2740" dirty="0"/>
          </a:p>
        </p:txBody>
      </p:sp>
      <p:sp>
        <p:nvSpPr>
          <p:cNvPr id="5" name="Shape 3"/>
          <p:cNvSpPr/>
          <p:nvPr/>
        </p:nvSpPr>
        <p:spPr>
          <a:xfrm>
            <a:off x="547650" y="1198773"/>
            <a:ext cx="3933825" cy="1243013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007" y="1380344"/>
            <a:ext cx="35671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 REACH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31007" y="1558119"/>
            <a:ext cx="3567113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324"/>
              </a:spcBef>
              <a:buNone/>
            </a:pPr>
            <a:r>
              <a:rPr lang="en-US" sz="144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year, 100 machines, four models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31007" y="1894061"/>
            <a:ext cx="3567113" cy="3667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36"/>
              </a:lnSpc>
              <a:spcBef>
                <a:spcPts val="486"/>
              </a:spcBef>
              <a:buNone/>
            </a:pPr>
            <a:r>
              <a:rPr lang="en-US" sz="10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PR-AUC of 0.91 is on this slice. Seasonality, plant-to-plant variance, and longer wear cycles are not exercised.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4662488" y="1198773"/>
            <a:ext cx="3933825" cy="1243013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845844" y="1380344"/>
            <a:ext cx="35671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SINGLE-FAILURE APPROXIMATION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845844" y="1558119"/>
            <a:ext cx="3567113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324"/>
              </a:spcBef>
              <a:buNone/>
            </a:pPr>
            <a:r>
              <a:rPr lang="en-US" sz="144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Any-component binary label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4845844" y="1894061"/>
            <a:ext cx="3567113" cy="3667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36"/>
              </a:lnSpc>
              <a:spcBef>
                <a:spcPts val="486"/>
              </a:spcBef>
              <a:buNone/>
            </a:pPr>
            <a:r>
              <a:rPr lang="en-US" sz="10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Co-occurring failures collapse into one positive. Likely_component is heuristic, not learned.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547650" y="2624472"/>
            <a:ext cx="3933825" cy="1428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007" y="2807754"/>
            <a:ext cx="35671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THRESHOLD SENSITIVITY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31007" y="2985529"/>
            <a:ext cx="3567113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324"/>
              </a:spcBef>
              <a:buNone/>
            </a:pPr>
            <a:r>
              <a:rPr lang="en-US" sz="144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3.03 false alarms / machine-month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731007" y="3321472"/>
            <a:ext cx="3567113" cy="3667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36"/>
              </a:lnSpc>
              <a:spcBef>
                <a:spcPts val="486"/>
              </a:spcBef>
              <a:buNone/>
            </a:pPr>
            <a:r>
              <a:rPr lang="en-US" sz="10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τ cuts recall fast. Operator cost of a false alarm vs a missed failure is the right tuning input — not a held-out F1.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4662488" y="2624472"/>
            <a:ext cx="3933825" cy="1428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894" y="2807754"/>
            <a:ext cx="354806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 QUALITY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864894" y="2985529"/>
            <a:ext cx="3548062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324"/>
              </a:spcBef>
              <a:buNone/>
            </a:pPr>
            <a:r>
              <a:rPr lang="en-US" sz="144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Two strings is a floor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4864894" y="3322141"/>
            <a:ext cx="3548062" cy="5476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36"/>
              </a:lnSpc>
              <a:spcBef>
                <a:spcPts val="486"/>
              </a:spcBef>
              <a:buNone/>
            </a:pPr>
            <a:r>
              <a:rPr lang="en-US" sz="10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evidence is the top maintenance-age and the loudest rolling std. SHAP-backed evidence is the obvious next step.</a:t>
            </a:r>
            <a:endParaRPr lang="en-US" sz="104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2488" y="2624472"/>
            <a:ext cx="3933825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5897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WHAT COMES NEXT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48580" y="576486"/>
            <a:ext cx="6858000" cy="7286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73"/>
              </a:lnSpc>
              <a:spcBef>
                <a:spcPts val="405"/>
              </a:spcBef>
              <a:buNone/>
            </a:pPr>
            <a:r>
              <a:rPr lang="en-US" sz="2740" b="1" kern="0" spc="-68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From assignment to Hyundai-scale system.</a:t>
            </a:r>
            <a:endParaRPr lang="en-US" sz="2740" dirty="0"/>
          </a:p>
        </p:txBody>
      </p:sp>
      <p:sp>
        <p:nvSpPr>
          <p:cNvPr id="5" name="Shape 3"/>
          <p:cNvSpPr/>
          <p:nvPr/>
        </p:nvSpPr>
        <p:spPr>
          <a:xfrm>
            <a:off x="547650" y="1563588"/>
            <a:ext cx="3933825" cy="1452562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007" y="1745121"/>
            <a:ext cx="35671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INGESTION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31007" y="1924645"/>
            <a:ext cx="3567113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buNone/>
            </a:pPr>
            <a:r>
              <a:rPr lang="en-US" sz="158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Streaming telemetry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731007" y="2286149"/>
            <a:ext cx="3567113" cy="3667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36"/>
              </a:lnSpc>
              <a:spcBef>
                <a:spcPts val="486"/>
              </a:spcBef>
              <a:buNone/>
            </a:pPr>
            <a:r>
              <a:rPr lang="en-US" sz="10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 or OPC-UA into a feature store; same rolling logic, evaluated on a rolling clock instead of a CSV batch.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4662488" y="1563588"/>
            <a:ext cx="3933825" cy="1452562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845844" y="1745121"/>
            <a:ext cx="35671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OPERATIONS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845844" y="1924645"/>
            <a:ext cx="3567113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buNone/>
            </a:pPr>
            <a:r>
              <a:rPr lang="en-US" sz="158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MES &amp; CMMS integration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4845844" y="2286819"/>
            <a:ext cx="3567113" cy="5476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36"/>
              </a:lnSpc>
              <a:spcBef>
                <a:spcPts val="486"/>
              </a:spcBef>
              <a:buNone/>
            </a:pPr>
            <a:r>
              <a:rPr lang="en-US" sz="10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</a:t>
            </a:r>
            <a:r>
              <a:rPr lang="en-US" sz="1040" dirty="0">
                <a:solidFill>
                  <a:srgbClr val="002C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</a:t>
            </a:r>
            <a:r>
              <a:rPr lang="en-US" sz="10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twin opens a work order in CMMS automatically, with the likely component and evidence attached.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547650" y="3200623"/>
            <a:ext cx="3933825" cy="1452562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007" y="3382156"/>
            <a:ext cx="35671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5A6B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MODELLING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31007" y="3561680"/>
            <a:ext cx="3567113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buNone/>
            </a:pPr>
            <a:r>
              <a:rPr lang="en-US" sz="1580" b="1" dirty="0">
                <a:solidFill>
                  <a:srgbClr val="0B13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Per-component heads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731007" y="3923854"/>
            <a:ext cx="3567113" cy="5476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36"/>
              </a:lnSpc>
              <a:spcBef>
                <a:spcPts val="486"/>
              </a:spcBef>
              <a:buNone/>
            </a:pPr>
            <a:r>
              <a:rPr lang="en-US" sz="1040" dirty="0">
                <a:solidFill>
                  <a:srgbClr val="5A6B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Once volume per component is sufficient, replace the rule-based ranker with four calibrated classifiers and learn co-occurrence directly.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4662488" y="3200623"/>
            <a:ext cx="3933825" cy="1452562"/>
          </a:xfrm>
          <a:prstGeom prst="roundRect">
            <a:avLst>
              <a:gd name="adj" fmla="val 1967"/>
            </a:avLst>
          </a:prstGeom>
          <a:solidFill>
            <a:srgbClr val="002C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5844" y="3382156"/>
            <a:ext cx="35671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SUPPORT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845844" y="3561680"/>
            <a:ext cx="3567113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buNone/>
            </a:pPr>
            <a:r>
              <a:rPr lang="en-US" sz="158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Fleet-level dashboards</a:t>
            </a:r>
            <a:endParaRPr lang="en-US" sz="1580" dirty="0"/>
          </a:p>
        </p:txBody>
      </p:sp>
      <p:sp>
        <p:nvSpPr>
          <p:cNvPr id="20" name="Text 18"/>
          <p:cNvSpPr/>
          <p:nvPr/>
        </p:nvSpPr>
        <p:spPr>
          <a:xfrm>
            <a:off x="4845844" y="3923854"/>
            <a:ext cx="3567113" cy="5476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36"/>
              </a:lnSpc>
              <a:spcBef>
                <a:spcPts val="486"/>
              </a:spcBef>
              <a:buNone/>
            </a:pPr>
            <a:r>
              <a:rPr lang="en-US" sz="104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Aggregate twin objects by line, shift, and supplier — surface the smallest set of actions that reduce downtime risk the most.</a:t>
            </a:r>
            <a:endParaRPr lang="en-US" sz="10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7688" y="1234567"/>
            <a:ext cx="8048625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spcAft>
                <a:spcPts val="810"/>
              </a:spcAft>
              <a:buNone/>
            </a:pPr>
            <a:r>
              <a:rPr lang="en-US" sz="1150" kern="0" spc="346" dirty="0">
                <a:solidFill>
                  <a:srgbClr val="00AA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 &amp; A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547688" y="1557040"/>
            <a:ext cx="8048625" cy="7810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6156"/>
              </a:lnSpc>
              <a:buNone/>
            </a:pPr>
            <a:r>
              <a:rPr lang="en-US" sz="6480" b="1" kern="0" spc="-162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Thank you</a:t>
            </a:r>
            <a:r>
              <a:rPr lang="en-US" sz="6480" b="1" kern="0" spc="-162" dirty="0">
                <a:solidFill>
                  <a:srgbClr val="00AAD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.</a:t>
            </a:r>
            <a:endParaRPr lang="en-US" sz="6480" dirty="0"/>
          </a:p>
        </p:txBody>
      </p:sp>
      <p:sp>
        <p:nvSpPr>
          <p:cNvPr id="7" name="Text 3"/>
          <p:cNvSpPr/>
          <p:nvPr/>
        </p:nvSpPr>
        <p:spPr>
          <a:xfrm>
            <a:off x="548097" y="2544142"/>
            <a:ext cx="5853112" cy="6238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57"/>
              </a:lnSpc>
              <a:spcBef>
                <a:spcPts val="1620"/>
              </a:spcBef>
              <a:buNone/>
            </a:pPr>
            <a:r>
              <a:rPr lang="en-US" sz="151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Happy to go deeper on labelling, threshold economics, MLOps, or how this transplants onto a Hyundai shop-floor stack.</a:t>
            </a:r>
            <a:endParaRPr lang="en-US" sz="1510" dirty="0"/>
          </a:p>
        </p:txBody>
      </p:sp>
      <p:sp>
        <p:nvSpPr>
          <p:cNvPr id="8" name="Text 4"/>
          <p:cNvSpPr/>
          <p:nvPr/>
        </p:nvSpPr>
        <p:spPr>
          <a:xfrm>
            <a:off x="548097" y="4432995"/>
            <a:ext cx="438626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REPOSITORY</a:t>
            </a:r>
            <a:endParaRPr lang="en-US" sz="790" dirty="0"/>
          </a:p>
        </p:txBody>
      </p:sp>
      <p:sp>
        <p:nvSpPr>
          <p:cNvPr id="9" name="Text 5"/>
          <p:cNvSpPr/>
          <p:nvPr/>
        </p:nvSpPr>
        <p:spPr>
          <a:xfrm>
            <a:off x="548097" y="4615644"/>
            <a:ext cx="4386263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spcBef>
                <a:spcPts val="243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github.com/SauravBhowmick/HD-Hyundai-Technical-Assignment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396386" y="4432995"/>
            <a:ext cx="12001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CANDIDATE</a:t>
            </a:r>
            <a:endParaRPr lang="en-US" sz="790" dirty="0"/>
          </a:p>
        </p:txBody>
      </p:sp>
      <p:sp>
        <p:nvSpPr>
          <p:cNvPr id="11" name="Text 7"/>
          <p:cNvSpPr/>
          <p:nvPr/>
        </p:nvSpPr>
        <p:spPr>
          <a:xfrm>
            <a:off x="7396386" y="4615644"/>
            <a:ext cx="1200150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728"/>
              </a:lnSpc>
              <a:spcBef>
                <a:spcPts val="243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Saurav Bhowmick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4572</Words>
  <Application>Microsoft Macintosh PowerPoint</Application>
  <PresentationFormat>On-screen Show (16:9)</PresentationFormat>
  <Paragraphs>440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IBM Plex Mono</vt:lpstr>
      <vt:lpstr>IBM Plex Sans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Saurav Bhowmick</cp:lastModifiedBy>
  <cp:revision>2</cp:revision>
  <dcterms:created xsi:type="dcterms:W3CDTF">2026-05-19T12:18:09Z</dcterms:created>
  <dcterms:modified xsi:type="dcterms:W3CDTF">2026-05-19T12:23:44Z</dcterms:modified>
</cp:coreProperties>
</file>